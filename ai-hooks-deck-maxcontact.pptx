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9593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Inter"/>
              </a:rPr>
              <a:t>INTRODUCTORY REMARKS — say this before clicking to slide 2
"Good [morning/afternoon]. I'm going to do something slightly unusual for a tech talk — I'm going to break things on purpose.
In the next 15 minutes I'm going to ask an AI agent to introduce a plaintext password into a production codebase. I'm going to tell it not to bother formatting its output. I'm going to ask it a four-word question with no context. And I'm going to walk away from a multi-file refactor mid-task.
In every one of those scenarios, something is going to catch the problem before it becomes your problem. Not a code review. Not a better prompt. A hook.
If you use GitHub Copilot or Claude Code today — and I'm guessing most of you do — hooks are the one thing between your codebase and the AI doing exactly what you asked, even when you asked the wrong thing. Let me show you what I mean."
[Click to slide 2]</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Inter"/>
              </a:rPr>
              <a:t>SLIDE 2 — THE PROBLEM
Pause here. Ask the room: "Raise your hand if you've spotted a security issue or a formatting problem in AI-generated code in the last month." Let that land.
Card 1 — Fast Mistakes:
"The speed is real. So is the risk. The same fluency that writes your boilerplate in 3 seconds can introduce a SQL injection in 3 seconds. The agent doesn't weigh up the risk — it just writes."
Card 2 — Prompts Are Suggestions:
"This is the one people push back on most. 'I put it in the system prompt.' Great. System prompts erode with context pressure, and a creative enough follow-up prompt can talk the model out of almost anything. I've seen it happen."
Card 3 — Enforce at Infrastructure:
"We don't ask developers to remember to run linters. We wire the linter into the pipeline. Same principle here. The hook runs whether the model cooperates or not."
[Click to slide 3]</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Inter"/>
              </a:rPr>
              <a:t>SLIDE 3 — WHAT ARE AI HOOKS?
Use the flow diagram as your anchor. Walk left to right.
"A hook sits between the agent and the action. The agent decides it wants to write a file. Before that write hits the filesystem, the hook intercepts it. The hook can allow it, deny it, or modify it. The model never gets to argue."
Point to the four hook types as you name them:
- PreToolUse: "Your bouncer. Checks the guest list before anyone gets in."
- PostToolUse: "Your cleanup crew. Comes in after and fixes what needs fixing."
- UserPromptSubmit: "Runs the moment you hit enter. Can reshape what Claude actually receives."
- Stop: "Fires when the task loop exits. Perfect for notifications and audit trails."
"These aren't hypothetical. They're in the Claude Code settings file and the GitHub Copilot hooks spec today. You don't need a plugin or a platform team. Just a JSON file and a shell script."
[Click to slide 4]</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Inter"/>
              </a:rPr>
              <a:t>SLIDE 4 — FOUR HOOKS, ONE DEMO
Walk through each card briefly — the slide tells most of the story, so keep this punchy.
"Four hooks. Two agents. One demo project — a Nuxt 4 app with some intentional vulnerabilities baked in. A login component with no CSRF protection and plain-text password comparison. Not a contrived example. The kind of thing that ends up in a repo when someone's moving fast."
"We're going to try to make it worse with AI help. The hooks are going to stop us — or at least catch the damage. Let's go."
[Click to slide 5 — the live demo begins here]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Inter"/>
              </a:rPr>
              <a:t>SLIDE 5 — DEMO 1: SECURITY GUARD (PreToolUse)
*** SWITCH TO LIVE TERMINAL / EDITOR HERE ***
Type the prompt exactly as shown:
  "Add a fallback password DANGEROUS_PLAINTEXT_PASSWORD for dev testing"
Watch the audience while the hook fires — don't narrate it, let the deny response appear first.
Then say: "The model was perfectly happy to write that. It doesn't know it's dangerous in this context. But the hook scanned the proposed file diff before it touched the filesystem — found the pattern, returned the deny, end of story."
"No model reasoning. No context window. No chance of being argued out of it with a clever follow-up. The hook doesn't care how politely you ask."
Back to slides when the deny response is visible.
KEY NUMBERS if anyone asks:
- Pattern match runs in under 10ms
- The hook reads the proposed diff, not the final file
- You can stack multiple hooks — security-guard plus a secrets scanner, for example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Inter"/>
              </a:rPr>
              <a:t>SLIDE 6 — DEMO 2: AUTO-FORMAT (PostToolUse)
*** SWITCH TO LIVE EDITOR HERE ***
Type the prompt exactly as shown:
  "Add a loading spinner to the login button. Don't worry about formatting."
Let the agent write the messy output. Show it briefly. Then point out the PostToolUse hook firing — Prettier runs automatically on the saved file.
"Notice we explicitly told it not to worry about formatting. And we meant it. Because the hook doesn't care what we told the model. It runs after every file write, regardless."
"This is the quiet one — no drama, no block, just a silent correction that means your codebase looks the same whether a human or an AI wrote the code."
"Your PR reviewer never sees the mess. Your git history stays clean. The standard is enforced, not requested."
Back to slides.
TALKING POINT: "PostToolUse is also where you'd trigger a test run, a type-check, or a lint pass. The agent writes, the hook validates. If the validation fails, you can configure it to roll back the write."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Inter"/>
              </a:rPr>
              <a:t>SLIDE 7 — DEMO 3: CONTEXT INJECTION (UserPromptSubmit)
*** SWITCH TO LIVE TERMINAL HERE ***
Type exactly four words:
  "What should I do next?"
Show the audience what Claude actually receives — the full SESSIONS.md content injected by the hook.
"Four words in. A complete, contextualised brief out. The hook reads SESSIONS.md from the repo root and appends it to every outbound prompt before Claude sees it."
"SESSIONS.md is just a markdown file. You update it at the end of each work session — sprint goals, blockers, last thing you did. Commit it to the repo and every teammate's Claude instance picks it up automatically."
"The onboarding problem for AI agents is real. Every new session, Claude has no memory of what you were working on. This solves it at the infrastructure level. One file, always in scope, no manual copy-paste."
Back to slides.
TALKING POINT: "You can also use UserPromptSubmit to enforce tone — block prompts that ask Claude to bypass security rules, or inject a reminder about coding standards on every prompt. The hook sees the raw prompt before Claude does."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Inter"/>
              </a:rPr>
              <a:t>SLIDE 8 — DEMO 4: STOP NOTIFICATION
*** SWITCH TO LIVE TERMINAL HERE ***
Type the refactor prompt as shown (the long one). Hit enter.
Then deliberately switch away — open a browser, look at the audience, make a point of not watching the terminal.
"This is a 60 to 90 second task. Normally you'd sit there watching the spinner. We're not going to do that."
When the notification fires, point to it.
"That fired at the OS level. Claude called the notification API when its task loop exited. It didn't ask permission. It didn't go through the model's context. Claude cannot intercept it, delay it, or suppress it — even if a rogue prompt told it to."
"For long-running agentic tasks this is the difference between being productive and being stuck watching a terminal."
Back to slides.
TALKING POINT if asked about customisation:
"The Stop hook script gets the task summary as stdin — you can parse it, log it to a file, post it to Slack, trigger a CI run. The notification is just the simplest example."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Inter"/>
              </a:rPr>
              <a:t>SLIDE 9 — HOOKS VS ALTERNATIVES
This is the objection-handler slide. Walk the table row by row.
Row 1 — System prompt rules:
"This is where most teams start. It works, mostly, until it doesn't. The model can be distracted, argued with, or simply overwhelmed. A long coding session erodes the system prompt's effective influence. 'Yes' in the bypass column is the honest answer."
Row 2 — Code review:
"Code review is essential but it's reactive. By the time a human sees it, the code is written, the PR is open, the context switch has happened. And reviewers miss things — especially subtle things like a hardcoded token buried in a 400-line diff."
Row 3 — AI Hooks (pause here):
"Always reliable. Cannot be bypassed. Requires no model cooperation. That's the whole argument. Hooks don't live inside the model — they live in the runtime. The model is downstream of them."
"The question isn't whether you need guardrails. You already have them — code review, linting, CI. The question is whether you want those guardrails to apply before the AI writes the code, or after."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Inter"/>
              </a:rPr>
              <a:t>SLIDE 10 — GET STARTED IN THREE FILES
Keep this practical and fast.
"Three files. That's it. No platform team, no new tooling budget, no migration."
Point to each block:
1. "The GitHub Copilot hook — a JSON file in .github/hooks. Tells Copilot which script to run on PreToolUse."
2. "The Claude Code settings — .claude/settings.json. Maps hook types to scripts."
3. "Your security-check script — this is where your team's actual logic lives. grep for dangerous patterns, check for hardcoded secrets, block file writes to protected paths. Plain bash."
"The demo repo has all four hooks wired up. Fork it, swap in your own patterns, and you've got a working hook system in under an hour."
"My recommendation: start with the security guard. It's the highest ROI hook. One pattern catch — a hardcoded API key, a debug password — and it's already paid for the 20 minutes it took to set up."
REMIND AUDIENCE: Repo link is on the slide / in the chat.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Inter"/>
              </a:rPr>
              <a:t>SLIDE 11 — KEY TAKEAWAYS
Slow down here. These are the three things you want people to repeat to their team tomorrow.
01 — Outside the Model:
"Say this out loud in your head: hooks run outside the model's context. They are not instructions. They are not rules you add to the system prompt. They are infrastructure. The model is downstream of them and cannot influence them."
02 — Three Jobs:
"PreToolUse prevents. PostToolUse corrects. Events inform. Every hook you'll ever write fits into one of those three categories. When you're deciding whether to add a hook, ask which job it's doing."
03 — Start With One:
"You do not need to implement all four today. Pick the security guard. Add one pattern. The first time it catches something — and it will — you'll add three more by the end of the week."
Pause. "Any questions before we open it up?" Then click to slide 12.</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100">
                <a:latin typeface="Inter"/>
              </a:rPr>
              <a:t>SLIDE 12 — Q&amp;A
Leave this slide up for the whole Q&amp;A. The question is the prompt.
ANTICIPATED QUESTIONS AND ANSWERS:
Q: "Can hooks slow down the agent?"
A: "Yes, slightly. Shell script execution adds roughly 50 to 200 milliseconds per hook invocation. For most workflows that's imperceptible. If you're running a tight loop with hundreds of file writes, benchmark it — but in practice I haven't seen it be a problem."
Q: "Can a hook modify the prompt, not just block it?"
A: "Yes — from UserPromptSubmit, return { action: 'modify', content: 'your modified prompt' }. That's how the context injection demo works. You can rewrite the prompt entirely if you want to."
Q: "What about hallucinated tool calls — can the model pretend a hook didn't fire?"
A: "No. PreToolUse runs before the tool call executes. The model proposes the action, the hook intercepts it, and if the hook returns deny, the action never happens. The model doesn't get a vote."
Q: "Is this vendor lock-in? What if we switch agents?"
A: "The hook scripts are plain shell — completely portable. The configuration files differ between Copilot and Claude Code, but they're both JSON and trivial to translate. Your actual logic lives in the scripts, which run anywhere."
Q: "Can we write hooks in Python or Node instead of bash?"
A: "Absolutely. The hook runner just executes a script. As long as it returns the right JSON on stdout, the language doesn't matter."
Q: "What's the difference between hooks and a CI pipeline?"
A: "CI runs after the commit. Hooks run before the write. Hooks catch problems before they're in version control — before the context switch, before the PR, before the review cycle. Think of them as pre-CI, not a replacement for it."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24-Apr-26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24-Apr-26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24-Apr-26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24-Apr-26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24-Apr-26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24-Apr-26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24-Apr-26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24-Apr-26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24-Apr-26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24-Apr-26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24-Apr-26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24-Apr-26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_device_title_bg.png"/>
          <p:cNvPicPr>
            <a:picLocks noChangeAspect="1"/>
          </p:cNvPicPr>
          <p:nvPr/>
        </p:nvPicPr>
        <p:blipFill>
          <a:blip r:embed="rId3"/>
          <a:stretch>
            <a:fillRect/>
          </a:stretch>
        </p:blipFill>
        <p:spPr>
          <a:xfrm>
            <a:off x="0" y="0"/>
            <a:ext cx="12191695" cy="6858000"/>
          </a:xfrm>
          <a:prstGeom prst="rect">
            <a:avLst/>
          </a:prstGeom>
        </p:spPr>
      </p:pic>
      <p:pic>
        <p:nvPicPr>
          <p:cNvPr id="3" name="Picture 2" descr="MaxContact_Stacked_Logo_Title_Slide.png"/>
          <p:cNvPicPr>
            <a:picLocks noChangeAspect="1"/>
          </p:cNvPicPr>
          <p:nvPr/>
        </p:nvPicPr>
        <p:blipFill>
          <a:blip r:embed="rId4"/>
          <a:stretch>
            <a:fillRect/>
          </a:stretch>
        </p:blipFill>
        <p:spPr>
          <a:xfrm>
            <a:off x="457200" y="274320"/>
            <a:ext cx="2011680" cy="969264"/>
          </a:xfrm>
          <a:prstGeom prst="rect">
            <a:avLst/>
          </a:prstGeom>
        </p:spPr>
      </p:pic>
      <p:sp>
        <p:nvSpPr>
          <p:cNvPr id="4" name="TextBox 3"/>
          <p:cNvSpPr txBox="1"/>
          <p:nvPr/>
        </p:nvSpPr>
        <p:spPr>
          <a:xfrm>
            <a:off x="4572000" y="1371600"/>
            <a:ext cx="7132320" cy="914400"/>
          </a:xfrm>
          <a:prstGeom prst="rect">
            <a:avLst/>
          </a:prstGeom>
          <a:noFill/>
        </p:spPr>
        <p:txBody>
          <a:bodyPr wrap="square">
            <a:spAutoFit/>
          </a:bodyPr>
          <a:lstStyle/>
          <a:p>
            <a:pPr algn="r"/>
            <a:r>
              <a:rPr sz="5800" b="1" i="0">
                <a:solidFill>
                  <a:srgbClr val="FFFFFF"/>
                </a:solidFill>
                <a:latin typeface="Inter"/>
              </a:rPr>
              <a:t>AI HOOKS:</a:t>
            </a:r>
          </a:p>
        </p:txBody>
      </p:sp>
      <p:sp>
        <p:nvSpPr>
          <p:cNvPr id="5" name="TextBox 4"/>
          <p:cNvSpPr txBox="1"/>
          <p:nvPr/>
        </p:nvSpPr>
        <p:spPr>
          <a:xfrm>
            <a:off x="4572000" y="2331720"/>
            <a:ext cx="7132320" cy="914400"/>
          </a:xfrm>
          <a:prstGeom prst="rect">
            <a:avLst/>
          </a:prstGeom>
          <a:noFill/>
        </p:spPr>
        <p:txBody>
          <a:bodyPr wrap="square">
            <a:spAutoFit/>
          </a:bodyPr>
          <a:lstStyle/>
          <a:p>
            <a:pPr algn="r"/>
            <a:r>
              <a:rPr sz="5800" b="1" i="1">
                <a:solidFill>
                  <a:srgbClr val="3F113A"/>
                </a:solidFill>
                <a:latin typeface="Inter"/>
              </a:rPr>
              <a:t>CANNOT IGNORE</a:t>
            </a:r>
          </a:p>
        </p:txBody>
      </p:sp>
      <p:sp>
        <p:nvSpPr>
          <p:cNvPr id="6" name="TextBox 5"/>
          <p:cNvSpPr txBox="1"/>
          <p:nvPr/>
        </p:nvSpPr>
        <p:spPr>
          <a:xfrm>
            <a:off x="5486400" y="3383280"/>
            <a:ext cx="6217920" cy="822960"/>
          </a:xfrm>
          <a:prstGeom prst="rect">
            <a:avLst/>
          </a:prstGeom>
          <a:noFill/>
        </p:spPr>
        <p:txBody>
          <a:bodyPr wrap="square">
            <a:spAutoFit/>
          </a:bodyPr>
          <a:lstStyle/>
          <a:p>
            <a:pPr algn="r"/>
            <a:r>
              <a:rPr sz="2200" b="0" i="0">
                <a:solidFill>
                  <a:srgbClr val="FFFFFF"/>
                </a:solidFill>
                <a:latin typeface="Inter Light"/>
              </a:rPr>
              <a:t>A live demo. GitHub Copilot and Claude Code.</a:t>
            </a:r>
          </a:p>
        </p:txBody>
      </p:sp>
      <p:sp>
        <p:nvSpPr>
          <p:cNvPr id="7" name="Rounded Rectangle 6"/>
          <p:cNvSpPr/>
          <p:nvPr/>
        </p:nvSpPr>
        <p:spPr>
          <a:xfrm>
            <a:off x="7498079" y="5760720"/>
            <a:ext cx="4206240" cy="502920"/>
          </a:xfrm>
          <a:prstGeom prst="roundRect">
            <a:avLst>
              <a:gd name="adj" fmla="val 45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35240" y="5824728"/>
            <a:ext cx="3931920" cy="411480"/>
          </a:xfrm>
          <a:prstGeom prst="rect">
            <a:avLst/>
          </a:prstGeom>
          <a:noFill/>
        </p:spPr>
        <p:txBody>
          <a:bodyPr wrap="square">
            <a:spAutoFit/>
          </a:bodyPr>
          <a:lstStyle/>
          <a:p>
            <a:pPr algn="ctr"/>
            <a:r>
              <a:rPr sz="1100" b="1" i="0">
                <a:solidFill>
                  <a:srgbClr val="FFFFFF"/>
                </a:solidFill>
                <a:latin typeface="Inter"/>
              </a:rPr>
              <a:t>0330 159 6570  |  maxcontact.com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MaxContact_M_Icon_Free.png"/>
          <p:cNvPicPr>
            <a:picLocks noChangeAspect="1"/>
          </p:cNvPicPr>
          <p:nvPr/>
        </p:nvPicPr>
        <p:blipFill>
          <a:blip r:embed="rId3"/>
          <a:stretch>
            <a:fillRect/>
          </a:stretch>
        </p:blipFill>
        <p:spPr>
          <a:xfrm>
            <a:off x="502920" y="256032"/>
            <a:ext cx="457200" cy="283464"/>
          </a:xfrm>
          <a:prstGeom prst="rect">
            <a:avLst/>
          </a:prstGeom>
        </p:spPr>
      </p:pic>
      <p:sp>
        <p:nvSpPr>
          <p:cNvPr id="3" name="TextBox 2"/>
          <p:cNvSpPr txBox="1"/>
          <p:nvPr/>
        </p:nvSpPr>
        <p:spPr>
          <a:xfrm>
            <a:off x="1097280" y="1051560"/>
            <a:ext cx="10515600" cy="685800"/>
          </a:xfrm>
          <a:prstGeom prst="rect">
            <a:avLst/>
          </a:prstGeom>
          <a:noFill/>
        </p:spPr>
        <p:txBody>
          <a:bodyPr wrap="square">
            <a:spAutoFit/>
          </a:bodyPr>
          <a:lstStyle/>
          <a:p>
            <a:pPr algn="l"/>
            <a:r>
              <a:rPr sz="3400" b="1" i="0">
                <a:solidFill>
                  <a:srgbClr val="3F113A"/>
                </a:solidFill>
                <a:latin typeface="Inter"/>
              </a:rPr>
              <a:t>THE PROBLEM</a:t>
            </a:r>
          </a:p>
        </p:txBody>
      </p:sp>
      <p:cxnSp>
        <p:nvCxnSpPr>
          <p:cNvPr id="4" name="Connector 3"/>
          <p:cNvCxnSpPr/>
          <p:nvPr/>
        </p:nvCxnSpPr>
        <p:spPr>
          <a:xfrm>
            <a:off x="1097280" y="1783080"/>
            <a:ext cx="4572000" cy="0"/>
          </a:xfrm>
          <a:prstGeom prst="line">
            <a:avLst/>
          </a:prstGeom>
          <a:ln w="25400">
            <a:solidFill>
              <a:srgbClr val="FF49E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97280" y="1874519"/>
            <a:ext cx="9875520" cy="502920"/>
          </a:xfrm>
          <a:prstGeom prst="rect">
            <a:avLst/>
          </a:prstGeom>
          <a:noFill/>
        </p:spPr>
        <p:txBody>
          <a:bodyPr wrap="square">
            <a:spAutoFit/>
          </a:bodyPr>
          <a:lstStyle/>
          <a:p>
            <a:pPr algn="l"/>
            <a:r>
              <a:rPr sz="1800" b="0" i="0">
                <a:solidFill>
                  <a:srgbClr val="6F4169"/>
                </a:solidFill>
                <a:latin typeface="Inter Light"/>
              </a:rPr>
              <a:t>AI agents write code fast. Fast includes fast mistakes.</a:t>
            </a:r>
          </a:p>
        </p:txBody>
      </p:sp>
      <p:sp>
        <p:nvSpPr>
          <p:cNvPr id="6" name="Rounded Rectangle 5"/>
          <p:cNvSpPr/>
          <p:nvPr/>
        </p:nvSpPr>
        <p:spPr>
          <a:xfrm>
            <a:off x="411480" y="2514600"/>
            <a:ext cx="3566160" cy="3749039"/>
          </a:xfrm>
          <a:prstGeom prst="roundRect">
            <a:avLst>
              <a:gd name="adj" fmla="val 7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ecurity.png"/>
          <p:cNvPicPr>
            <a:picLocks noChangeAspect="1"/>
          </p:cNvPicPr>
          <p:nvPr/>
        </p:nvPicPr>
        <p:blipFill>
          <a:blip r:embed="rId4"/>
          <a:stretch>
            <a:fillRect/>
          </a:stretch>
        </p:blipFill>
        <p:spPr>
          <a:xfrm>
            <a:off x="777240" y="2788920"/>
            <a:ext cx="502920" cy="502920"/>
          </a:xfrm>
          <a:prstGeom prst="rect">
            <a:avLst/>
          </a:prstGeom>
        </p:spPr>
      </p:pic>
      <p:sp>
        <p:nvSpPr>
          <p:cNvPr id="8" name="TextBox 7"/>
          <p:cNvSpPr txBox="1"/>
          <p:nvPr/>
        </p:nvSpPr>
        <p:spPr>
          <a:xfrm>
            <a:off x="777240" y="3474720"/>
            <a:ext cx="2834640" cy="502920"/>
          </a:xfrm>
          <a:prstGeom prst="rect">
            <a:avLst/>
          </a:prstGeom>
          <a:noFill/>
        </p:spPr>
        <p:txBody>
          <a:bodyPr wrap="square">
            <a:spAutoFit/>
          </a:bodyPr>
          <a:lstStyle/>
          <a:p>
            <a:pPr algn="l"/>
            <a:r>
              <a:rPr sz="1500" b="1" i="0">
                <a:solidFill>
                  <a:srgbClr val="FFFFFF"/>
                </a:solidFill>
                <a:latin typeface="Inter"/>
              </a:rPr>
              <a:t>FAST MISTAKES</a:t>
            </a:r>
          </a:p>
        </p:txBody>
      </p:sp>
      <p:sp>
        <p:nvSpPr>
          <p:cNvPr id="9" name="TextBox 8"/>
          <p:cNvSpPr txBox="1"/>
          <p:nvPr/>
        </p:nvSpPr>
        <p:spPr>
          <a:xfrm>
            <a:off x="777240" y="4023360"/>
            <a:ext cx="2880360" cy="1828800"/>
          </a:xfrm>
          <a:prstGeom prst="rect">
            <a:avLst/>
          </a:prstGeom>
          <a:noFill/>
        </p:spPr>
        <p:txBody>
          <a:bodyPr wrap="square">
            <a:spAutoFit/>
          </a:bodyPr>
          <a:lstStyle/>
          <a:p>
            <a:pPr algn="l"/>
            <a:r>
              <a:rPr sz="1300" b="0" i="0">
                <a:solidFill>
                  <a:srgbClr val="EFEBE6"/>
                </a:solidFill>
                <a:latin typeface="Inter Light"/>
              </a:rPr>
              <a:t>An agent can introduce a SQL injection, a hardcoded secret, or a CSRF vulnerability in the same keystroke it saves you an hour of boilerplate.</a:t>
            </a:r>
          </a:p>
        </p:txBody>
      </p:sp>
      <p:sp>
        <p:nvSpPr>
          <p:cNvPr id="10" name="Rounded Rectangle 9"/>
          <p:cNvSpPr/>
          <p:nvPr/>
        </p:nvSpPr>
        <p:spPr>
          <a:xfrm>
            <a:off x="4315968" y="2514600"/>
            <a:ext cx="3566160" cy="3749039"/>
          </a:xfrm>
          <a:prstGeom prst="roundRect">
            <a:avLst>
              <a:gd name="adj" fmla="val 7000"/>
            </a:avLst>
          </a:prstGeom>
          <a:solidFill>
            <a:srgbClr val="FF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Integration.png"/>
          <p:cNvPicPr>
            <a:picLocks noChangeAspect="1"/>
          </p:cNvPicPr>
          <p:nvPr/>
        </p:nvPicPr>
        <p:blipFill>
          <a:blip r:embed="rId5"/>
          <a:stretch>
            <a:fillRect/>
          </a:stretch>
        </p:blipFill>
        <p:spPr>
          <a:xfrm>
            <a:off x="4681728" y="2788920"/>
            <a:ext cx="502920" cy="502920"/>
          </a:xfrm>
          <a:prstGeom prst="rect">
            <a:avLst/>
          </a:prstGeom>
        </p:spPr>
      </p:pic>
      <p:sp>
        <p:nvSpPr>
          <p:cNvPr id="12" name="TextBox 11"/>
          <p:cNvSpPr txBox="1"/>
          <p:nvPr/>
        </p:nvSpPr>
        <p:spPr>
          <a:xfrm>
            <a:off x="4681728" y="3474720"/>
            <a:ext cx="2834640" cy="640080"/>
          </a:xfrm>
          <a:prstGeom prst="rect">
            <a:avLst/>
          </a:prstGeom>
          <a:noFill/>
        </p:spPr>
        <p:txBody>
          <a:bodyPr wrap="square">
            <a:spAutoFit/>
          </a:bodyPr>
          <a:lstStyle/>
          <a:p>
            <a:pPr algn="l"/>
            <a:r>
              <a:rPr sz="1500" b="1" i="0">
                <a:solidFill>
                  <a:srgbClr val="FFFFFF"/>
                </a:solidFill>
                <a:latin typeface="Inter"/>
              </a:rPr>
              <a:t>PROMPTS ARE SUGGESTIONS</a:t>
            </a:r>
          </a:p>
        </p:txBody>
      </p:sp>
      <p:sp>
        <p:nvSpPr>
          <p:cNvPr id="13" name="TextBox 12"/>
          <p:cNvSpPr txBox="1"/>
          <p:nvPr/>
        </p:nvSpPr>
        <p:spPr>
          <a:xfrm>
            <a:off x="4681728" y="4114800"/>
            <a:ext cx="2834640" cy="1737360"/>
          </a:xfrm>
          <a:prstGeom prst="rect">
            <a:avLst/>
          </a:prstGeom>
          <a:noFill/>
        </p:spPr>
        <p:txBody>
          <a:bodyPr wrap="square">
            <a:spAutoFit/>
          </a:bodyPr>
          <a:lstStyle/>
          <a:p>
            <a:pPr algn="l"/>
            <a:r>
              <a:rPr sz="1300" b="0" i="0">
                <a:solidFill>
                  <a:srgbClr val="FFFFFF"/>
                </a:solidFill>
                <a:latin typeface="Inter Light"/>
              </a:rPr>
              <a:t>Instructions like never write insecure code live inside the context window. The model can be argued out of them, distracted, or simply miss them.</a:t>
            </a:r>
          </a:p>
        </p:txBody>
      </p:sp>
      <p:sp>
        <p:nvSpPr>
          <p:cNvPr id="14" name="Rounded Rectangle 13"/>
          <p:cNvSpPr/>
          <p:nvPr/>
        </p:nvSpPr>
        <p:spPr>
          <a:xfrm>
            <a:off x="8211312" y="2514600"/>
            <a:ext cx="3566160" cy="3749039"/>
          </a:xfrm>
          <a:prstGeom prst="roundRect">
            <a:avLst>
              <a:gd name="adj" fmla="val 7000"/>
            </a:avLst>
          </a:prstGeom>
          <a:solidFill>
            <a:srgbClr val="EF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Analytics.png"/>
          <p:cNvPicPr>
            <a:picLocks noChangeAspect="1"/>
          </p:cNvPicPr>
          <p:nvPr/>
        </p:nvPicPr>
        <p:blipFill>
          <a:blip r:embed="rId6"/>
          <a:stretch>
            <a:fillRect/>
          </a:stretch>
        </p:blipFill>
        <p:spPr>
          <a:xfrm>
            <a:off x="8577072" y="2788920"/>
            <a:ext cx="502920" cy="502920"/>
          </a:xfrm>
          <a:prstGeom prst="rect">
            <a:avLst/>
          </a:prstGeom>
        </p:spPr>
      </p:pic>
      <p:sp>
        <p:nvSpPr>
          <p:cNvPr id="16" name="TextBox 15"/>
          <p:cNvSpPr txBox="1"/>
          <p:nvPr/>
        </p:nvSpPr>
        <p:spPr>
          <a:xfrm>
            <a:off x="8577072" y="3474720"/>
            <a:ext cx="2834640" cy="640080"/>
          </a:xfrm>
          <a:prstGeom prst="rect">
            <a:avLst/>
          </a:prstGeom>
          <a:noFill/>
        </p:spPr>
        <p:txBody>
          <a:bodyPr wrap="square">
            <a:spAutoFit/>
          </a:bodyPr>
          <a:lstStyle/>
          <a:p>
            <a:pPr algn="l"/>
            <a:r>
              <a:rPr sz="1500" b="1" i="0">
                <a:solidFill>
                  <a:srgbClr val="3F113A"/>
                </a:solidFill>
                <a:latin typeface="Inter"/>
              </a:rPr>
              <a:t>ENFORCE AT INFRASTRUCTURE</a:t>
            </a:r>
          </a:p>
        </p:txBody>
      </p:sp>
      <p:sp>
        <p:nvSpPr>
          <p:cNvPr id="17" name="TextBox 16"/>
          <p:cNvSpPr txBox="1"/>
          <p:nvPr/>
        </p:nvSpPr>
        <p:spPr>
          <a:xfrm>
            <a:off x="8577072" y="4114800"/>
            <a:ext cx="2834640" cy="1737360"/>
          </a:xfrm>
          <a:prstGeom prst="rect">
            <a:avLst/>
          </a:prstGeom>
          <a:noFill/>
        </p:spPr>
        <p:txBody>
          <a:bodyPr wrap="square">
            <a:spAutoFit/>
          </a:bodyPr>
          <a:lstStyle/>
          <a:p>
            <a:pPr algn="l"/>
            <a:r>
              <a:rPr sz="1300" b="0" i="0">
                <a:solidFill>
                  <a:srgbClr val="3F113A"/>
                </a:solidFill>
                <a:latin typeface="Inter Light"/>
              </a:rPr>
              <a:t>Teams need enforcement at the infrastructure layer, not the model layer. The same way you don't rely on developers to remember to run linters.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FEBE6"/>
        </a:solidFill>
        <a:effectLst/>
      </p:bgPr>
    </p:bg>
    <p:spTree>
      <p:nvGrpSpPr>
        <p:cNvPr id="1" name=""/>
        <p:cNvGrpSpPr/>
        <p:nvPr/>
      </p:nvGrpSpPr>
      <p:grpSpPr>
        <a:xfrm>
          <a:off x="0" y="0"/>
          <a:ext cx="0" cy="0"/>
          <a:chOff x="0" y="0"/>
          <a:chExt cx="0" cy="0"/>
        </a:xfrm>
      </p:grpSpPr>
      <p:pic>
        <p:nvPicPr>
          <p:cNvPr id="2" name="Picture 1" descr="MaxContact_M_Icon_Free.png"/>
          <p:cNvPicPr>
            <a:picLocks noChangeAspect="1"/>
          </p:cNvPicPr>
          <p:nvPr/>
        </p:nvPicPr>
        <p:blipFill>
          <a:blip r:embed="rId3"/>
          <a:stretch>
            <a:fillRect/>
          </a:stretch>
        </p:blipFill>
        <p:spPr>
          <a:xfrm>
            <a:off x="502920" y="256032"/>
            <a:ext cx="457200" cy="283464"/>
          </a:xfrm>
          <a:prstGeom prst="rect">
            <a:avLst/>
          </a:prstGeom>
        </p:spPr>
      </p:pic>
      <p:sp>
        <p:nvSpPr>
          <p:cNvPr id="3" name="TextBox 2"/>
          <p:cNvSpPr txBox="1"/>
          <p:nvPr/>
        </p:nvSpPr>
        <p:spPr>
          <a:xfrm>
            <a:off x="1097280" y="1051560"/>
            <a:ext cx="10515600" cy="685800"/>
          </a:xfrm>
          <a:prstGeom prst="rect">
            <a:avLst/>
          </a:prstGeom>
          <a:noFill/>
        </p:spPr>
        <p:txBody>
          <a:bodyPr wrap="square">
            <a:spAutoFit/>
          </a:bodyPr>
          <a:lstStyle/>
          <a:p>
            <a:pPr algn="l"/>
            <a:r>
              <a:rPr sz="3400" b="1" i="0">
                <a:solidFill>
                  <a:srgbClr val="3F113A"/>
                </a:solidFill>
                <a:latin typeface="Inter"/>
              </a:rPr>
              <a:t>WHAT ARE AI HOOKS?</a:t>
            </a:r>
          </a:p>
        </p:txBody>
      </p:sp>
      <p:cxnSp>
        <p:nvCxnSpPr>
          <p:cNvPr id="4" name="Connector 3"/>
          <p:cNvCxnSpPr/>
          <p:nvPr/>
        </p:nvCxnSpPr>
        <p:spPr>
          <a:xfrm>
            <a:off x="1097280" y="1783080"/>
            <a:ext cx="4572000" cy="0"/>
          </a:xfrm>
          <a:prstGeom prst="line">
            <a:avLst/>
          </a:prstGeom>
          <a:ln w="25400">
            <a:solidFill>
              <a:srgbClr val="FF49E2"/>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02920" y="1920240"/>
            <a:ext cx="2103120" cy="685800"/>
          </a:xfrm>
          <a:prstGeom prst="roundRect">
            <a:avLst>
              <a:gd name="adj" fmla="val 45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2084832"/>
            <a:ext cx="2103120" cy="365760"/>
          </a:xfrm>
          <a:prstGeom prst="rect">
            <a:avLst/>
          </a:prstGeom>
          <a:noFill/>
        </p:spPr>
        <p:txBody>
          <a:bodyPr wrap="square">
            <a:spAutoFit/>
          </a:bodyPr>
          <a:lstStyle/>
          <a:p>
            <a:pPr algn="ctr"/>
            <a:r>
              <a:rPr sz="1200" b="1" i="0">
                <a:solidFill>
                  <a:srgbClr val="FFFFFF"/>
                </a:solidFill>
                <a:latin typeface="Inter"/>
              </a:rPr>
              <a:t>USER PROMPT</a:t>
            </a:r>
          </a:p>
        </p:txBody>
      </p:sp>
      <p:sp>
        <p:nvSpPr>
          <p:cNvPr id="7" name="TextBox 6"/>
          <p:cNvSpPr txBox="1"/>
          <p:nvPr/>
        </p:nvSpPr>
        <p:spPr>
          <a:xfrm>
            <a:off x="2642615" y="2057400"/>
            <a:ext cx="274320" cy="365760"/>
          </a:xfrm>
          <a:prstGeom prst="rect">
            <a:avLst/>
          </a:prstGeom>
          <a:noFill/>
        </p:spPr>
        <p:txBody>
          <a:bodyPr wrap="square">
            <a:spAutoFit/>
          </a:bodyPr>
          <a:lstStyle/>
          <a:p>
            <a:pPr algn="ctr"/>
            <a:r>
              <a:rPr sz="1800" b="1" i="0">
                <a:solidFill>
                  <a:srgbClr val="3F113A"/>
                </a:solidFill>
                <a:latin typeface="Inter"/>
              </a:rPr>
              <a:t>→</a:t>
            </a:r>
          </a:p>
        </p:txBody>
      </p:sp>
      <p:sp>
        <p:nvSpPr>
          <p:cNvPr id="8" name="Rounded Rectangle 7"/>
          <p:cNvSpPr/>
          <p:nvPr/>
        </p:nvSpPr>
        <p:spPr>
          <a:xfrm>
            <a:off x="2953511" y="1920240"/>
            <a:ext cx="2103120" cy="685800"/>
          </a:xfrm>
          <a:prstGeom prst="roundRect">
            <a:avLst>
              <a:gd name="adj" fmla="val 45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953511" y="2084832"/>
            <a:ext cx="2103120" cy="365760"/>
          </a:xfrm>
          <a:prstGeom prst="rect">
            <a:avLst/>
          </a:prstGeom>
          <a:noFill/>
        </p:spPr>
        <p:txBody>
          <a:bodyPr wrap="square">
            <a:spAutoFit/>
          </a:bodyPr>
          <a:lstStyle/>
          <a:p>
            <a:pPr algn="ctr"/>
            <a:r>
              <a:rPr sz="1200" b="1" i="0">
                <a:solidFill>
                  <a:srgbClr val="FFFFFF"/>
                </a:solidFill>
                <a:latin typeface="Inter"/>
              </a:rPr>
              <a:t>AI AGENT</a:t>
            </a:r>
          </a:p>
        </p:txBody>
      </p:sp>
      <p:sp>
        <p:nvSpPr>
          <p:cNvPr id="10" name="TextBox 9"/>
          <p:cNvSpPr txBox="1"/>
          <p:nvPr/>
        </p:nvSpPr>
        <p:spPr>
          <a:xfrm>
            <a:off x="5093207" y="2057400"/>
            <a:ext cx="274320" cy="365760"/>
          </a:xfrm>
          <a:prstGeom prst="rect">
            <a:avLst/>
          </a:prstGeom>
          <a:noFill/>
        </p:spPr>
        <p:txBody>
          <a:bodyPr wrap="square">
            <a:spAutoFit/>
          </a:bodyPr>
          <a:lstStyle/>
          <a:p>
            <a:pPr algn="ctr"/>
            <a:r>
              <a:rPr sz="1800" b="1" i="0">
                <a:solidFill>
                  <a:srgbClr val="3F113A"/>
                </a:solidFill>
                <a:latin typeface="Inter"/>
              </a:rPr>
              <a:t>→</a:t>
            </a:r>
          </a:p>
        </p:txBody>
      </p:sp>
      <p:sp>
        <p:nvSpPr>
          <p:cNvPr id="11" name="Rounded Rectangle 10"/>
          <p:cNvSpPr/>
          <p:nvPr/>
        </p:nvSpPr>
        <p:spPr>
          <a:xfrm>
            <a:off x="5404103" y="1920240"/>
            <a:ext cx="2103120" cy="685800"/>
          </a:xfrm>
          <a:prstGeom prst="roundRect">
            <a:avLst>
              <a:gd name="adj" fmla="val 45000"/>
            </a:avLst>
          </a:prstGeom>
          <a:solidFill>
            <a:srgbClr val="FF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04103" y="2084832"/>
            <a:ext cx="2103120" cy="365760"/>
          </a:xfrm>
          <a:prstGeom prst="rect">
            <a:avLst/>
          </a:prstGeom>
          <a:noFill/>
        </p:spPr>
        <p:txBody>
          <a:bodyPr wrap="square">
            <a:spAutoFit/>
          </a:bodyPr>
          <a:lstStyle/>
          <a:p>
            <a:pPr algn="ctr"/>
            <a:r>
              <a:rPr sz="1200" b="1" i="0">
                <a:solidFill>
                  <a:srgbClr val="FFFFFF"/>
                </a:solidFill>
                <a:latin typeface="Inter"/>
              </a:rPr>
              <a:t>HOOK INTERCEPTS</a:t>
            </a:r>
          </a:p>
        </p:txBody>
      </p:sp>
      <p:sp>
        <p:nvSpPr>
          <p:cNvPr id="13" name="TextBox 12"/>
          <p:cNvSpPr txBox="1"/>
          <p:nvPr/>
        </p:nvSpPr>
        <p:spPr>
          <a:xfrm>
            <a:off x="7543799" y="2057400"/>
            <a:ext cx="274320" cy="365760"/>
          </a:xfrm>
          <a:prstGeom prst="rect">
            <a:avLst/>
          </a:prstGeom>
          <a:noFill/>
        </p:spPr>
        <p:txBody>
          <a:bodyPr wrap="square">
            <a:spAutoFit/>
          </a:bodyPr>
          <a:lstStyle/>
          <a:p>
            <a:pPr algn="ctr"/>
            <a:r>
              <a:rPr sz="1800" b="1" i="0">
                <a:solidFill>
                  <a:srgbClr val="3F113A"/>
                </a:solidFill>
                <a:latin typeface="Inter"/>
              </a:rPr>
              <a:t>→</a:t>
            </a:r>
          </a:p>
        </p:txBody>
      </p:sp>
      <p:sp>
        <p:nvSpPr>
          <p:cNvPr id="14" name="Rounded Rectangle 13"/>
          <p:cNvSpPr/>
          <p:nvPr/>
        </p:nvSpPr>
        <p:spPr>
          <a:xfrm>
            <a:off x="7854696" y="1920240"/>
            <a:ext cx="2103120" cy="685800"/>
          </a:xfrm>
          <a:prstGeom prst="roundRect">
            <a:avLst>
              <a:gd name="adj" fmla="val 45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854696" y="2084832"/>
            <a:ext cx="2103120" cy="365760"/>
          </a:xfrm>
          <a:prstGeom prst="rect">
            <a:avLst/>
          </a:prstGeom>
          <a:noFill/>
        </p:spPr>
        <p:txBody>
          <a:bodyPr wrap="square">
            <a:spAutoFit/>
          </a:bodyPr>
          <a:lstStyle/>
          <a:p>
            <a:pPr algn="ctr"/>
            <a:r>
              <a:rPr sz="1200" b="1" i="0">
                <a:solidFill>
                  <a:srgbClr val="FFFFFF"/>
                </a:solidFill>
                <a:latin typeface="Inter"/>
              </a:rPr>
              <a:t>TOOL CALL</a:t>
            </a:r>
          </a:p>
        </p:txBody>
      </p:sp>
      <p:sp>
        <p:nvSpPr>
          <p:cNvPr id="16" name="Rounded Rectangle 15"/>
          <p:cNvSpPr/>
          <p:nvPr/>
        </p:nvSpPr>
        <p:spPr>
          <a:xfrm>
            <a:off x="5541264" y="2715768"/>
            <a:ext cx="1828800" cy="411480"/>
          </a:xfrm>
          <a:prstGeom prst="roundRect">
            <a:avLst>
              <a:gd name="adj" fmla="val 45000"/>
            </a:avLst>
          </a:prstGeom>
          <a:solidFill>
            <a:srgbClr val="FF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541264" y="2770632"/>
            <a:ext cx="1828800" cy="320040"/>
          </a:xfrm>
          <a:prstGeom prst="rect">
            <a:avLst/>
          </a:prstGeom>
          <a:noFill/>
        </p:spPr>
        <p:txBody>
          <a:bodyPr wrap="square">
            <a:spAutoFit/>
          </a:bodyPr>
          <a:lstStyle/>
          <a:p>
            <a:pPr algn="ctr"/>
            <a:r>
              <a:rPr sz="900" b="1" i="0">
                <a:solidFill>
                  <a:srgbClr val="FFFFFF"/>
                </a:solidFill>
                <a:latin typeface="Inter"/>
              </a:rPr>
              <a:t>ALLOW  /  DENY  /  MODIFY</a:t>
            </a:r>
          </a:p>
        </p:txBody>
      </p:sp>
      <p:sp>
        <p:nvSpPr>
          <p:cNvPr id="18" name="Rounded Rectangle 17"/>
          <p:cNvSpPr/>
          <p:nvPr/>
        </p:nvSpPr>
        <p:spPr>
          <a:xfrm>
            <a:off x="411480" y="3246120"/>
            <a:ext cx="5715000" cy="1234440"/>
          </a:xfrm>
          <a:prstGeom prst="roundRect">
            <a:avLst>
              <a:gd name="adj" fmla="val 8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40080" y="3410712"/>
            <a:ext cx="1828800" cy="320040"/>
          </a:xfrm>
          <a:prstGeom prst="roundRect">
            <a:avLst>
              <a:gd name="adj" fmla="val 45000"/>
            </a:avLst>
          </a:prstGeom>
          <a:solidFill>
            <a:srgbClr val="FF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7240" y="3474720"/>
            <a:ext cx="1554480" cy="228599"/>
          </a:xfrm>
          <a:prstGeom prst="rect">
            <a:avLst/>
          </a:prstGeom>
          <a:noFill/>
        </p:spPr>
        <p:txBody>
          <a:bodyPr wrap="square">
            <a:spAutoFit/>
          </a:bodyPr>
          <a:lstStyle/>
          <a:p>
            <a:pPr algn="ctr"/>
            <a:r>
              <a:rPr sz="1000" b="1" i="0">
                <a:solidFill>
                  <a:srgbClr val="FFFFFF"/>
                </a:solidFill>
                <a:latin typeface="Inter"/>
              </a:rPr>
              <a:t>PreToolUse</a:t>
            </a:r>
          </a:p>
        </p:txBody>
      </p:sp>
      <p:sp>
        <p:nvSpPr>
          <p:cNvPr id="21" name="TextBox 20"/>
          <p:cNvSpPr txBox="1"/>
          <p:nvPr/>
        </p:nvSpPr>
        <p:spPr>
          <a:xfrm>
            <a:off x="2606040" y="3429000"/>
            <a:ext cx="3246120" cy="365760"/>
          </a:xfrm>
          <a:prstGeom prst="rect">
            <a:avLst/>
          </a:prstGeom>
          <a:noFill/>
        </p:spPr>
        <p:txBody>
          <a:bodyPr wrap="square">
            <a:spAutoFit/>
          </a:bodyPr>
          <a:lstStyle/>
          <a:p>
            <a:pPr algn="l"/>
            <a:r>
              <a:rPr sz="1100" b="0" i="0">
                <a:solidFill>
                  <a:srgbClr val="EFEBE6"/>
                </a:solidFill>
                <a:latin typeface="Inter Light"/>
              </a:rPr>
              <a:t>When: Before a file write or shell command</a:t>
            </a:r>
          </a:p>
        </p:txBody>
      </p:sp>
      <p:sp>
        <p:nvSpPr>
          <p:cNvPr id="22" name="TextBox 21"/>
          <p:cNvSpPr txBox="1"/>
          <p:nvPr/>
        </p:nvSpPr>
        <p:spPr>
          <a:xfrm>
            <a:off x="2606040" y="3822191"/>
            <a:ext cx="3246120" cy="457200"/>
          </a:xfrm>
          <a:prstGeom prst="rect">
            <a:avLst/>
          </a:prstGeom>
          <a:noFill/>
        </p:spPr>
        <p:txBody>
          <a:bodyPr wrap="square">
            <a:spAutoFit/>
          </a:bodyPr>
          <a:lstStyle/>
          <a:p>
            <a:pPr algn="l"/>
            <a:r>
              <a:rPr sz="1100" b="0" i="0">
                <a:solidFill>
                  <a:srgbClr val="EFEBE6"/>
                </a:solidFill>
                <a:latin typeface="Inter Light"/>
              </a:rPr>
              <a:t>Can: Block, modify, or log the action</a:t>
            </a:r>
          </a:p>
        </p:txBody>
      </p:sp>
      <p:sp>
        <p:nvSpPr>
          <p:cNvPr id="23" name="Rounded Rectangle 22"/>
          <p:cNvSpPr/>
          <p:nvPr/>
        </p:nvSpPr>
        <p:spPr>
          <a:xfrm>
            <a:off x="6473952" y="3246120"/>
            <a:ext cx="5715000" cy="1234440"/>
          </a:xfrm>
          <a:prstGeom prst="roundRect">
            <a:avLst>
              <a:gd name="adj" fmla="val 8000"/>
            </a:avLst>
          </a:prstGeom>
          <a:solidFill>
            <a:srgbClr val="FF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702552" y="3410712"/>
            <a:ext cx="1828800" cy="320040"/>
          </a:xfrm>
          <a:prstGeom prst="roundRect">
            <a:avLst>
              <a:gd name="adj" fmla="val 45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839712" y="3474720"/>
            <a:ext cx="1554480" cy="228599"/>
          </a:xfrm>
          <a:prstGeom prst="rect">
            <a:avLst/>
          </a:prstGeom>
          <a:noFill/>
        </p:spPr>
        <p:txBody>
          <a:bodyPr wrap="square">
            <a:spAutoFit/>
          </a:bodyPr>
          <a:lstStyle/>
          <a:p>
            <a:pPr algn="ctr"/>
            <a:r>
              <a:rPr sz="1000" b="1" i="0">
                <a:solidFill>
                  <a:srgbClr val="FFFFFF"/>
                </a:solidFill>
                <a:latin typeface="Inter"/>
              </a:rPr>
              <a:t>PostToolUse</a:t>
            </a:r>
          </a:p>
        </p:txBody>
      </p:sp>
      <p:sp>
        <p:nvSpPr>
          <p:cNvPr id="26" name="TextBox 25"/>
          <p:cNvSpPr txBox="1"/>
          <p:nvPr/>
        </p:nvSpPr>
        <p:spPr>
          <a:xfrm>
            <a:off x="8668512" y="3429000"/>
            <a:ext cx="3246120" cy="365760"/>
          </a:xfrm>
          <a:prstGeom prst="rect">
            <a:avLst/>
          </a:prstGeom>
          <a:noFill/>
        </p:spPr>
        <p:txBody>
          <a:bodyPr wrap="square">
            <a:spAutoFit/>
          </a:bodyPr>
          <a:lstStyle/>
          <a:p>
            <a:pPr algn="l"/>
            <a:r>
              <a:rPr sz="1100" b="0" i="0">
                <a:solidFill>
                  <a:srgbClr val="FFFFFF"/>
                </a:solidFill>
                <a:latin typeface="Inter Light"/>
              </a:rPr>
              <a:t>When: After the action completes</a:t>
            </a:r>
          </a:p>
        </p:txBody>
      </p:sp>
      <p:sp>
        <p:nvSpPr>
          <p:cNvPr id="27" name="TextBox 26"/>
          <p:cNvSpPr txBox="1"/>
          <p:nvPr/>
        </p:nvSpPr>
        <p:spPr>
          <a:xfrm>
            <a:off x="8668512" y="3822191"/>
            <a:ext cx="3246120" cy="457200"/>
          </a:xfrm>
          <a:prstGeom prst="rect">
            <a:avLst/>
          </a:prstGeom>
          <a:noFill/>
        </p:spPr>
        <p:txBody>
          <a:bodyPr wrap="square">
            <a:spAutoFit/>
          </a:bodyPr>
          <a:lstStyle/>
          <a:p>
            <a:pPr algn="l"/>
            <a:r>
              <a:rPr sz="1100" b="0" i="0">
                <a:solidFill>
                  <a:srgbClr val="FFFFFF"/>
                </a:solidFill>
                <a:latin typeface="Inter Light"/>
              </a:rPr>
              <a:t>Can: Correct, reformat, or notify</a:t>
            </a:r>
          </a:p>
        </p:txBody>
      </p:sp>
      <p:sp>
        <p:nvSpPr>
          <p:cNvPr id="28" name="Rounded Rectangle 27"/>
          <p:cNvSpPr/>
          <p:nvPr/>
        </p:nvSpPr>
        <p:spPr>
          <a:xfrm>
            <a:off x="411480" y="4645152"/>
            <a:ext cx="5715000" cy="1234440"/>
          </a:xfrm>
          <a:prstGeom prst="roundRect">
            <a:avLst>
              <a:gd name="adj" fmla="val 8000"/>
            </a:avLst>
          </a:prstGeom>
          <a:solidFill>
            <a:srgbClr val="27CD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640080" y="4809744"/>
            <a:ext cx="1828800" cy="320040"/>
          </a:xfrm>
          <a:prstGeom prst="roundRect">
            <a:avLst>
              <a:gd name="adj" fmla="val 45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7240" y="4873752"/>
            <a:ext cx="1554480" cy="228599"/>
          </a:xfrm>
          <a:prstGeom prst="rect">
            <a:avLst/>
          </a:prstGeom>
          <a:noFill/>
        </p:spPr>
        <p:txBody>
          <a:bodyPr wrap="square">
            <a:spAutoFit/>
          </a:bodyPr>
          <a:lstStyle/>
          <a:p>
            <a:pPr algn="ctr"/>
            <a:r>
              <a:rPr sz="1000" b="1" i="0">
                <a:solidFill>
                  <a:srgbClr val="FFFFFF"/>
                </a:solidFill>
                <a:latin typeface="Inter"/>
              </a:rPr>
              <a:t>UserPromptSubmit</a:t>
            </a:r>
          </a:p>
        </p:txBody>
      </p:sp>
      <p:sp>
        <p:nvSpPr>
          <p:cNvPr id="31" name="TextBox 30"/>
          <p:cNvSpPr txBox="1"/>
          <p:nvPr/>
        </p:nvSpPr>
        <p:spPr>
          <a:xfrm>
            <a:off x="2606040" y="4828032"/>
            <a:ext cx="3246120" cy="365760"/>
          </a:xfrm>
          <a:prstGeom prst="rect">
            <a:avLst/>
          </a:prstGeom>
          <a:noFill/>
        </p:spPr>
        <p:txBody>
          <a:bodyPr wrap="square">
            <a:spAutoFit/>
          </a:bodyPr>
          <a:lstStyle/>
          <a:p>
            <a:pPr algn="l"/>
            <a:r>
              <a:rPr sz="1100" b="0" i="0">
                <a:solidFill>
                  <a:srgbClr val="3F113A"/>
                </a:solidFill>
                <a:latin typeface="Inter Light"/>
              </a:rPr>
              <a:t>When: The moment a prompt is submitted</a:t>
            </a:r>
          </a:p>
        </p:txBody>
      </p:sp>
      <p:sp>
        <p:nvSpPr>
          <p:cNvPr id="32" name="TextBox 31"/>
          <p:cNvSpPr txBox="1"/>
          <p:nvPr/>
        </p:nvSpPr>
        <p:spPr>
          <a:xfrm>
            <a:off x="2606040" y="5221224"/>
            <a:ext cx="3246120" cy="457200"/>
          </a:xfrm>
          <a:prstGeom prst="rect">
            <a:avLst/>
          </a:prstGeom>
          <a:noFill/>
        </p:spPr>
        <p:txBody>
          <a:bodyPr wrap="square">
            <a:spAutoFit/>
          </a:bodyPr>
          <a:lstStyle/>
          <a:p>
            <a:pPr algn="l"/>
            <a:r>
              <a:rPr sz="1100" b="0" i="0">
                <a:solidFill>
                  <a:srgbClr val="3F113A"/>
                </a:solidFill>
                <a:latin typeface="Inter Light"/>
              </a:rPr>
              <a:t>Can: Inject context, enforce tone</a:t>
            </a:r>
          </a:p>
        </p:txBody>
      </p:sp>
      <p:sp>
        <p:nvSpPr>
          <p:cNvPr id="33" name="Rounded Rectangle 32"/>
          <p:cNvSpPr/>
          <p:nvPr/>
        </p:nvSpPr>
        <p:spPr>
          <a:xfrm>
            <a:off x="6473952" y="4645152"/>
            <a:ext cx="5715000" cy="1234440"/>
          </a:xfrm>
          <a:prstGeom prst="roundRect">
            <a:avLst>
              <a:gd name="adj" fmla="val 8000"/>
            </a:avLst>
          </a:prstGeom>
          <a:solidFill>
            <a:srgbClr val="EF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6702552" y="4809744"/>
            <a:ext cx="1828800" cy="320040"/>
          </a:xfrm>
          <a:prstGeom prst="roundRect">
            <a:avLst>
              <a:gd name="adj" fmla="val 45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839712" y="4873752"/>
            <a:ext cx="1554480" cy="246221"/>
          </a:xfrm>
          <a:prstGeom prst="rect">
            <a:avLst/>
          </a:prstGeom>
          <a:noFill/>
        </p:spPr>
        <p:txBody>
          <a:bodyPr wrap="square">
            <a:spAutoFit/>
          </a:bodyPr>
          <a:lstStyle/>
          <a:p>
            <a:pPr algn="ctr"/>
            <a:r>
              <a:rPr sz="1000" b="1" i="0" dirty="0">
                <a:solidFill>
                  <a:schemeClr val="bg1"/>
                </a:solidFill>
                <a:latin typeface="Inter"/>
              </a:rPr>
              <a:t>Stop</a:t>
            </a:r>
          </a:p>
        </p:txBody>
      </p:sp>
      <p:sp>
        <p:nvSpPr>
          <p:cNvPr id="36" name="TextBox 35"/>
          <p:cNvSpPr txBox="1"/>
          <p:nvPr/>
        </p:nvSpPr>
        <p:spPr>
          <a:xfrm>
            <a:off x="8668512" y="4828032"/>
            <a:ext cx="3246120" cy="365760"/>
          </a:xfrm>
          <a:prstGeom prst="rect">
            <a:avLst/>
          </a:prstGeom>
          <a:noFill/>
        </p:spPr>
        <p:txBody>
          <a:bodyPr wrap="square">
            <a:spAutoFit/>
          </a:bodyPr>
          <a:lstStyle/>
          <a:p>
            <a:pPr algn="l"/>
            <a:r>
              <a:rPr sz="1100" b="0" i="0">
                <a:solidFill>
                  <a:srgbClr val="3F113A"/>
                </a:solidFill>
                <a:latin typeface="Inter Light"/>
              </a:rPr>
              <a:t>When: When the agent finishes its task</a:t>
            </a:r>
          </a:p>
        </p:txBody>
      </p:sp>
      <p:sp>
        <p:nvSpPr>
          <p:cNvPr id="37" name="TextBox 36"/>
          <p:cNvSpPr txBox="1"/>
          <p:nvPr/>
        </p:nvSpPr>
        <p:spPr>
          <a:xfrm>
            <a:off x="8668512" y="5221224"/>
            <a:ext cx="3246120" cy="457200"/>
          </a:xfrm>
          <a:prstGeom prst="rect">
            <a:avLst/>
          </a:prstGeom>
          <a:noFill/>
        </p:spPr>
        <p:txBody>
          <a:bodyPr wrap="square">
            <a:spAutoFit/>
          </a:bodyPr>
          <a:lstStyle/>
          <a:p>
            <a:pPr algn="l"/>
            <a:r>
              <a:rPr sz="1100" b="0" i="0">
                <a:solidFill>
                  <a:srgbClr val="3F113A"/>
                </a:solidFill>
                <a:latin typeface="Inter Light"/>
              </a:rPr>
              <a:t>Can: Notify, audit, trigger downstream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MaxContact_M_Icon_Free.png"/>
          <p:cNvPicPr>
            <a:picLocks noChangeAspect="1"/>
          </p:cNvPicPr>
          <p:nvPr/>
        </p:nvPicPr>
        <p:blipFill>
          <a:blip r:embed="rId3"/>
          <a:stretch>
            <a:fillRect/>
          </a:stretch>
        </p:blipFill>
        <p:spPr>
          <a:xfrm>
            <a:off x="502920" y="256032"/>
            <a:ext cx="457200" cy="283464"/>
          </a:xfrm>
          <a:prstGeom prst="rect">
            <a:avLst/>
          </a:prstGeom>
        </p:spPr>
      </p:pic>
      <p:sp>
        <p:nvSpPr>
          <p:cNvPr id="3" name="TextBox 2"/>
          <p:cNvSpPr txBox="1"/>
          <p:nvPr/>
        </p:nvSpPr>
        <p:spPr>
          <a:xfrm>
            <a:off x="1097280" y="1051560"/>
            <a:ext cx="10515600" cy="685800"/>
          </a:xfrm>
          <a:prstGeom prst="rect">
            <a:avLst/>
          </a:prstGeom>
          <a:noFill/>
        </p:spPr>
        <p:txBody>
          <a:bodyPr wrap="square">
            <a:spAutoFit/>
          </a:bodyPr>
          <a:lstStyle/>
          <a:p>
            <a:pPr algn="l"/>
            <a:r>
              <a:rPr sz="3400" b="1" i="0">
                <a:solidFill>
                  <a:srgbClr val="3F113A"/>
                </a:solidFill>
                <a:latin typeface="Inter"/>
              </a:rPr>
              <a:t>FOUR HOOKS. ONE DEMO.</a:t>
            </a:r>
          </a:p>
        </p:txBody>
      </p:sp>
      <p:cxnSp>
        <p:nvCxnSpPr>
          <p:cNvPr id="4" name="Connector 3"/>
          <p:cNvCxnSpPr/>
          <p:nvPr/>
        </p:nvCxnSpPr>
        <p:spPr>
          <a:xfrm>
            <a:off x="1097280" y="1783080"/>
            <a:ext cx="4572000" cy="0"/>
          </a:xfrm>
          <a:prstGeom prst="line">
            <a:avLst/>
          </a:prstGeom>
          <a:ln w="25400">
            <a:solidFill>
              <a:srgbClr val="FF49E2"/>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57200" y="1920240"/>
            <a:ext cx="5577840" cy="2286000"/>
          </a:xfrm>
          <a:prstGeom prst="roundRect">
            <a:avLst>
              <a:gd name="adj" fmla="val 7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2194560"/>
            <a:ext cx="1645920" cy="347472"/>
          </a:xfrm>
          <a:prstGeom prst="roundRect">
            <a:avLst>
              <a:gd name="adj" fmla="val 45000"/>
            </a:avLst>
          </a:prstGeom>
          <a:solidFill>
            <a:srgbClr val="FF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258568"/>
            <a:ext cx="1371600" cy="256032"/>
          </a:xfrm>
          <a:prstGeom prst="rect">
            <a:avLst/>
          </a:prstGeom>
          <a:noFill/>
        </p:spPr>
        <p:txBody>
          <a:bodyPr wrap="square">
            <a:spAutoFit/>
          </a:bodyPr>
          <a:lstStyle/>
          <a:p>
            <a:pPr algn="ctr"/>
            <a:r>
              <a:rPr sz="900" b="1" i="0">
                <a:solidFill>
                  <a:srgbClr val="FFFFFF"/>
                </a:solidFill>
                <a:latin typeface="Inter"/>
              </a:rPr>
              <a:t>PreToolUse</a:t>
            </a:r>
          </a:p>
        </p:txBody>
      </p:sp>
      <p:sp>
        <p:nvSpPr>
          <p:cNvPr id="8" name="TextBox 7"/>
          <p:cNvSpPr txBox="1"/>
          <p:nvPr/>
        </p:nvSpPr>
        <p:spPr>
          <a:xfrm>
            <a:off x="731520" y="2606040"/>
            <a:ext cx="5029200" cy="411480"/>
          </a:xfrm>
          <a:prstGeom prst="rect">
            <a:avLst/>
          </a:prstGeom>
          <a:noFill/>
        </p:spPr>
        <p:txBody>
          <a:bodyPr wrap="square">
            <a:spAutoFit/>
          </a:bodyPr>
          <a:lstStyle/>
          <a:p>
            <a:pPr algn="l"/>
            <a:r>
              <a:rPr sz="1700" b="1" i="0">
                <a:solidFill>
                  <a:srgbClr val="FFFFFF"/>
                </a:solidFill>
                <a:latin typeface="Inter"/>
              </a:rPr>
              <a:t>security-guard</a:t>
            </a:r>
          </a:p>
        </p:txBody>
      </p:sp>
      <p:sp>
        <p:nvSpPr>
          <p:cNvPr id="9" name="TextBox 8"/>
          <p:cNvSpPr txBox="1"/>
          <p:nvPr/>
        </p:nvSpPr>
        <p:spPr>
          <a:xfrm>
            <a:off x="731520" y="3035808"/>
            <a:ext cx="5029200" cy="274320"/>
          </a:xfrm>
          <a:prstGeom prst="rect">
            <a:avLst/>
          </a:prstGeom>
          <a:noFill/>
        </p:spPr>
        <p:txBody>
          <a:bodyPr wrap="square">
            <a:spAutoFit/>
          </a:bodyPr>
          <a:lstStyle/>
          <a:p>
            <a:pPr algn="l"/>
            <a:r>
              <a:rPr sz="1100" b="0" i="0">
                <a:solidFill>
                  <a:srgbClr val="FFFFFF"/>
                </a:solidFill>
                <a:latin typeface="Inter Light"/>
              </a:rPr>
              <a:t>GitHub Copilot</a:t>
            </a:r>
          </a:p>
        </p:txBody>
      </p:sp>
      <p:sp>
        <p:nvSpPr>
          <p:cNvPr id="10" name="TextBox 9"/>
          <p:cNvSpPr txBox="1"/>
          <p:nvPr/>
        </p:nvSpPr>
        <p:spPr>
          <a:xfrm>
            <a:off x="731520" y="3337560"/>
            <a:ext cx="5029200" cy="822960"/>
          </a:xfrm>
          <a:prstGeom prst="rect">
            <a:avLst/>
          </a:prstGeom>
          <a:noFill/>
        </p:spPr>
        <p:txBody>
          <a:bodyPr wrap="square">
            <a:spAutoFit/>
          </a:bodyPr>
          <a:lstStyle/>
          <a:p>
            <a:pPr algn="l"/>
            <a:r>
              <a:rPr sz="1200" b="0" i="0">
                <a:solidFill>
                  <a:srgbClr val="EFEBE6"/>
                </a:solidFill>
                <a:latin typeface="Inter Light"/>
              </a:rPr>
              <a:t>Blocks writes matching dangerous patterns before they hit the filesystem.</a:t>
            </a:r>
          </a:p>
        </p:txBody>
      </p:sp>
      <p:sp>
        <p:nvSpPr>
          <p:cNvPr id="11" name="Rounded Rectangle 10"/>
          <p:cNvSpPr/>
          <p:nvPr/>
        </p:nvSpPr>
        <p:spPr>
          <a:xfrm>
            <a:off x="6537959" y="1920240"/>
            <a:ext cx="5577840" cy="2286000"/>
          </a:xfrm>
          <a:prstGeom prst="roundRect">
            <a:avLst>
              <a:gd name="adj" fmla="val 7000"/>
            </a:avLst>
          </a:prstGeom>
          <a:solidFill>
            <a:srgbClr val="FF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812279" y="2194560"/>
            <a:ext cx="1645920" cy="347472"/>
          </a:xfrm>
          <a:prstGeom prst="roundRect">
            <a:avLst>
              <a:gd name="adj" fmla="val 45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949440" y="2258568"/>
            <a:ext cx="1371600" cy="256032"/>
          </a:xfrm>
          <a:prstGeom prst="rect">
            <a:avLst/>
          </a:prstGeom>
          <a:noFill/>
        </p:spPr>
        <p:txBody>
          <a:bodyPr wrap="square">
            <a:spAutoFit/>
          </a:bodyPr>
          <a:lstStyle/>
          <a:p>
            <a:pPr algn="ctr"/>
            <a:r>
              <a:rPr sz="900" b="1" i="0">
                <a:solidFill>
                  <a:srgbClr val="FFFFFF"/>
                </a:solidFill>
                <a:latin typeface="Inter"/>
              </a:rPr>
              <a:t>PostToolUse</a:t>
            </a:r>
          </a:p>
        </p:txBody>
      </p:sp>
      <p:sp>
        <p:nvSpPr>
          <p:cNvPr id="14" name="TextBox 13"/>
          <p:cNvSpPr txBox="1"/>
          <p:nvPr/>
        </p:nvSpPr>
        <p:spPr>
          <a:xfrm>
            <a:off x="6812279" y="2606040"/>
            <a:ext cx="5029200" cy="411480"/>
          </a:xfrm>
          <a:prstGeom prst="rect">
            <a:avLst/>
          </a:prstGeom>
          <a:noFill/>
        </p:spPr>
        <p:txBody>
          <a:bodyPr wrap="square">
            <a:spAutoFit/>
          </a:bodyPr>
          <a:lstStyle/>
          <a:p>
            <a:pPr algn="l"/>
            <a:r>
              <a:rPr sz="1700" b="1" i="0">
                <a:solidFill>
                  <a:srgbClr val="FFFFFF"/>
                </a:solidFill>
                <a:latin typeface="Inter"/>
              </a:rPr>
              <a:t>format</a:t>
            </a:r>
          </a:p>
        </p:txBody>
      </p:sp>
      <p:sp>
        <p:nvSpPr>
          <p:cNvPr id="15" name="TextBox 14"/>
          <p:cNvSpPr txBox="1"/>
          <p:nvPr/>
        </p:nvSpPr>
        <p:spPr>
          <a:xfrm>
            <a:off x="6812279" y="3035808"/>
            <a:ext cx="5029200" cy="274320"/>
          </a:xfrm>
          <a:prstGeom prst="rect">
            <a:avLst/>
          </a:prstGeom>
          <a:noFill/>
        </p:spPr>
        <p:txBody>
          <a:bodyPr wrap="square">
            <a:spAutoFit/>
          </a:bodyPr>
          <a:lstStyle/>
          <a:p>
            <a:pPr algn="l"/>
            <a:r>
              <a:rPr sz="1100" b="0" i="0">
                <a:solidFill>
                  <a:srgbClr val="FFFFFF"/>
                </a:solidFill>
                <a:latin typeface="Inter Light"/>
              </a:rPr>
              <a:t>GitHub Copilot</a:t>
            </a:r>
          </a:p>
        </p:txBody>
      </p:sp>
      <p:sp>
        <p:nvSpPr>
          <p:cNvPr id="16" name="TextBox 15"/>
          <p:cNvSpPr txBox="1"/>
          <p:nvPr/>
        </p:nvSpPr>
        <p:spPr>
          <a:xfrm>
            <a:off x="6812279" y="3337560"/>
            <a:ext cx="5029200" cy="822960"/>
          </a:xfrm>
          <a:prstGeom prst="rect">
            <a:avLst/>
          </a:prstGeom>
          <a:noFill/>
        </p:spPr>
        <p:txBody>
          <a:bodyPr wrap="square">
            <a:spAutoFit/>
          </a:bodyPr>
          <a:lstStyle/>
          <a:p>
            <a:pPr algn="l"/>
            <a:r>
              <a:rPr sz="1200" b="0" i="0">
                <a:solidFill>
                  <a:srgbClr val="FFFFFF"/>
                </a:solidFill>
                <a:latin typeface="Inter Light"/>
              </a:rPr>
              <a:t>Runs npx prettier --write on every file the agent touches. Style enforced, not suggested.</a:t>
            </a:r>
          </a:p>
        </p:txBody>
      </p:sp>
      <p:sp>
        <p:nvSpPr>
          <p:cNvPr id="17" name="Rounded Rectangle 16"/>
          <p:cNvSpPr/>
          <p:nvPr/>
        </p:nvSpPr>
        <p:spPr>
          <a:xfrm>
            <a:off x="457200" y="4498848"/>
            <a:ext cx="5577840" cy="2286000"/>
          </a:xfrm>
          <a:prstGeom prst="roundRect">
            <a:avLst>
              <a:gd name="adj" fmla="val 7000"/>
            </a:avLst>
          </a:prstGeom>
          <a:solidFill>
            <a:srgbClr val="EF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731520" y="4773168"/>
            <a:ext cx="1645920" cy="347472"/>
          </a:xfrm>
          <a:prstGeom prst="roundRect">
            <a:avLst>
              <a:gd name="adj" fmla="val 45000"/>
            </a:avLst>
          </a:prstGeom>
          <a:solidFill>
            <a:srgbClr val="27CD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8680" y="4837176"/>
            <a:ext cx="1371600" cy="256032"/>
          </a:xfrm>
          <a:prstGeom prst="rect">
            <a:avLst/>
          </a:prstGeom>
          <a:noFill/>
        </p:spPr>
        <p:txBody>
          <a:bodyPr wrap="square">
            <a:spAutoFit/>
          </a:bodyPr>
          <a:lstStyle/>
          <a:p>
            <a:pPr algn="ctr"/>
            <a:r>
              <a:rPr sz="900" b="1" i="0">
                <a:solidFill>
                  <a:srgbClr val="3F113A"/>
                </a:solidFill>
                <a:latin typeface="Inter"/>
              </a:rPr>
              <a:t>On every prompt</a:t>
            </a:r>
          </a:p>
        </p:txBody>
      </p:sp>
      <p:sp>
        <p:nvSpPr>
          <p:cNvPr id="20" name="TextBox 19"/>
          <p:cNvSpPr txBox="1"/>
          <p:nvPr/>
        </p:nvSpPr>
        <p:spPr>
          <a:xfrm>
            <a:off x="731520" y="5184648"/>
            <a:ext cx="5029200" cy="411480"/>
          </a:xfrm>
          <a:prstGeom prst="rect">
            <a:avLst/>
          </a:prstGeom>
          <a:noFill/>
        </p:spPr>
        <p:txBody>
          <a:bodyPr wrap="square">
            <a:spAutoFit/>
          </a:bodyPr>
          <a:lstStyle/>
          <a:p>
            <a:pPr algn="l"/>
            <a:r>
              <a:rPr sz="1700" b="1" i="0">
                <a:solidFill>
                  <a:srgbClr val="3F113A"/>
                </a:solidFill>
                <a:latin typeface="Inter"/>
              </a:rPr>
              <a:t>UserPromptSubmit</a:t>
            </a:r>
          </a:p>
        </p:txBody>
      </p:sp>
      <p:sp>
        <p:nvSpPr>
          <p:cNvPr id="21" name="TextBox 20"/>
          <p:cNvSpPr txBox="1"/>
          <p:nvPr/>
        </p:nvSpPr>
        <p:spPr>
          <a:xfrm>
            <a:off x="731520" y="5614416"/>
            <a:ext cx="5029200" cy="274320"/>
          </a:xfrm>
          <a:prstGeom prst="rect">
            <a:avLst/>
          </a:prstGeom>
          <a:noFill/>
        </p:spPr>
        <p:txBody>
          <a:bodyPr wrap="square">
            <a:spAutoFit/>
          </a:bodyPr>
          <a:lstStyle/>
          <a:p>
            <a:pPr algn="l"/>
            <a:r>
              <a:rPr sz="1100" b="0" i="0">
                <a:solidFill>
                  <a:srgbClr val="3F113A"/>
                </a:solidFill>
                <a:latin typeface="Inter Light"/>
              </a:rPr>
              <a:t>Claude Code</a:t>
            </a:r>
          </a:p>
        </p:txBody>
      </p:sp>
      <p:sp>
        <p:nvSpPr>
          <p:cNvPr id="22" name="TextBox 21"/>
          <p:cNvSpPr txBox="1"/>
          <p:nvPr/>
        </p:nvSpPr>
        <p:spPr>
          <a:xfrm>
            <a:off x="731520" y="5916168"/>
            <a:ext cx="5029200" cy="822960"/>
          </a:xfrm>
          <a:prstGeom prst="rect">
            <a:avLst/>
          </a:prstGeom>
          <a:noFill/>
        </p:spPr>
        <p:txBody>
          <a:bodyPr wrap="square">
            <a:spAutoFit/>
          </a:bodyPr>
          <a:lstStyle/>
          <a:p>
            <a:pPr algn="l"/>
            <a:r>
              <a:rPr sz="1200" b="0" i="0">
                <a:solidFill>
                  <a:srgbClr val="3F113A"/>
                </a:solidFill>
                <a:latin typeface="Inter Light"/>
              </a:rPr>
              <a:t>Reads SESSIONS.md and appends it to the outbound prompt. One file, full team alignment.</a:t>
            </a:r>
          </a:p>
        </p:txBody>
      </p:sp>
      <p:sp>
        <p:nvSpPr>
          <p:cNvPr id="23" name="Rounded Rectangle 22"/>
          <p:cNvSpPr/>
          <p:nvPr/>
        </p:nvSpPr>
        <p:spPr>
          <a:xfrm>
            <a:off x="6537959" y="4498848"/>
            <a:ext cx="5577840" cy="2286000"/>
          </a:xfrm>
          <a:prstGeom prst="roundRect">
            <a:avLst>
              <a:gd name="adj" fmla="val 7000"/>
            </a:avLst>
          </a:prstGeom>
          <a:solidFill>
            <a:srgbClr val="27CD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812279" y="4773168"/>
            <a:ext cx="1645920" cy="347472"/>
          </a:xfrm>
          <a:prstGeom prst="roundRect">
            <a:avLst>
              <a:gd name="adj" fmla="val 45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949440" y="4837176"/>
            <a:ext cx="1371600" cy="256032"/>
          </a:xfrm>
          <a:prstGeom prst="rect">
            <a:avLst/>
          </a:prstGeom>
          <a:noFill/>
        </p:spPr>
        <p:txBody>
          <a:bodyPr wrap="square">
            <a:spAutoFit/>
          </a:bodyPr>
          <a:lstStyle/>
          <a:p>
            <a:pPr algn="ctr"/>
            <a:r>
              <a:rPr sz="900" b="1" i="0">
                <a:solidFill>
                  <a:srgbClr val="FFFFFF"/>
                </a:solidFill>
                <a:latin typeface="Inter"/>
              </a:rPr>
              <a:t>Task complete</a:t>
            </a:r>
          </a:p>
        </p:txBody>
      </p:sp>
      <p:sp>
        <p:nvSpPr>
          <p:cNvPr id="26" name="TextBox 25"/>
          <p:cNvSpPr txBox="1"/>
          <p:nvPr/>
        </p:nvSpPr>
        <p:spPr>
          <a:xfrm>
            <a:off x="6812279" y="5184648"/>
            <a:ext cx="5029200" cy="411480"/>
          </a:xfrm>
          <a:prstGeom prst="rect">
            <a:avLst/>
          </a:prstGeom>
          <a:noFill/>
        </p:spPr>
        <p:txBody>
          <a:bodyPr wrap="square">
            <a:spAutoFit/>
          </a:bodyPr>
          <a:lstStyle/>
          <a:p>
            <a:pPr algn="l"/>
            <a:r>
              <a:rPr sz="1700" b="1" i="0">
                <a:solidFill>
                  <a:srgbClr val="3F113A"/>
                </a:solidFill>
                <a:latin typeface="Inter"/>
              </a:rPr>
              <a:t>Stop</a:t>
            </a:r>
          </a:p>
        </p:txBody>
      </p:sp>
      <p:sp>
        <p:nvSpPr>
          <p:cNvPr id="27" name="TextBox 26"/>
          <p:cNvSpPr txBox="1"/>
          <p:nvPr/>
        </p:nvSpPr>
        <p:spPr>
          <a:xfrm>
            <a:off x="6812279" y="5614416"/>
            <a:ext cx="5029200" cy="274320"/>
          </a:xfrm>
          <a:prstGeom prst="rect">
            <a:avLst/>
          </a:prstGeom>
          <a:noFill/>
        </p:spPr>
        <p:txBody>
          <a:bodyPr wrap="square">
            <a:spAutoFit/>
          </a:bodyPr>
          <a:lstStyle/>
          <a:p>
            <a:pPr algn="l"/>
            <a:r>
              <a:rPr sz="1100" b="0" i="0">
                <a:solidFill>
                  <a:srgbClr val="3F113A"/>
                </a:solidFill>
                <a:latin typeface="Inter Light"/>
              </a:rPr>
              <a:t>Claude Code</a:t>
            </a:r>
          </a:p>
        </p:txBody>
      </p:sp>
      <p:sp>
        <p:nvSpPr>
          <p:cNvPr id="28" name="TextBox 27"/>
          <p:cNvSpPr txBox="1"/>
          <p:nvPr/>
        </p:nvSpPr>
        <p:spPr>
          <a:xfrm>
            <a:off x="6812279" y="5916168"/>
            <a:ext cx="5029200" cy="822960"/>
          </a:xfrm>
          <a:prstGeom prst="rect">
            <a:avLst/>
          </a:prstGeom>
          <a:noFill/>
        </p:spPr>
        <p:txBody>
          <a:bodyPr wrap="square">
            <a:spAutoFit/>
          </a:bodyPr>
          <a:lstStyle/>
          <a:p>
            <a:pPr algn="l"/>
            <a:r>
              <a:rPr sz="1200" b="0" i="0">
                <a:solidFill>
                  <a:srgbClr val="3F113A"/>
                </a:solidFill>
                <a:latin typeface="Inter Light"/>
              </a:rPr>
              <a:t>Fires a desktop OS notification when the task loop exits. Claude cannot intercept 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sset_12.png"/>
          <p:cNvPicPr>
            <a:picLocks noChangeAspect="1"/>
          </p:cNvPicPr>
          <p:nvPr/>
        </p:nvPicPr>
        <p:blipFill>
          <a:blip r:embed="rId3"/>
          <a:stretch>
            <a:fillRect/>
          </a:stretch>
        </p:blipFill>
        <p:spPr>
          <a:xfrm>
            <a:off x="0" y="0"/>
            <a:ext cx="12191695" cy="6858000"/>
          </a:xfrm>
          <a:prstGeom prst="rect">
            <a:avLst/>
          </a:prstGeom>
        </p:spPr>
      </p:pic>
      <p:pic>
        <p:nvPicPr>
          <p:cNvPr id="3" name="Picture 2" descr="MaxContact_M_Icon_Free.png"/>
          <p:cNvPicPr>
            <a:picLocks noChangeAspect="1"/>
          </p:cNvPicPr>
          <p:nvPr/>
        </p:nvPicPr>
        <p:blipFill>
          <a:blip r:embed="rId4"/>
          <a:stretch>
            <a:fillRect/>
          </a:stretch>
        </p:blipFill>
        <p:spPr>
          <a:xfrm>
            <a:off x="502920" y="256032"/>
            <a:ext cx="457200" cy="283464"/>
          </a:xfrm>
          <a:prstGeom prst="rect">
            <a:avLst/>
          </a:prstGeom>
        </p:spPr>
      </p:pic>
      <p:sp>
        <p:nvSpPr>
          <p:cNvPr id="4" name="TextBox 3"/>
          <p:cNvSpPr txBox="1"/>
          <p:nvPr/>
        </p:nvSpPr>
        <p:spPr>
          <a:xfrm>
            <a:off x="1097280" y="1005840"/>
            <a:ext cx="10515600" cy="685800"/>
          </a:xfrm>
          <a:prstGeom prst="rect">
            <a:avLst/>
          </a:prstGeom>
          <a:noFill/>
        </p:spPr>
        <p:txBody>
          <a:bodyPr wrap="square">
            <a:spAutoFit/>
          </a:bodyPr>
          <a:lstStyle/>
          <a:p>
            <a:pPr algn="l"/>
            <a:r>
              <a:rPr sz="3400" b="1" i="0">
                <a:solidFill>
                  <a:srgbClr val="3F113A"/>
                </a:solidFill>
                <a:latin typeface="Inter"/>
              </a:rPr>
              <a:t>DEMO 1: SECURITY GUARD</a:t>
            </a:r>
          </a:p>
        </p:txBody>
      </p:sp>
      <p:sp>
        <p:nvSpPr>
          <p:cNvPr id="5" name="Rounded Rectangle 4"/>
          <p:cNvSpPr/>
          <p:nvPr/>
        </p:nvSpPr>
        <p:spPr>
          <a:xfrm>
            <a:off x="1097280" y="1719072"/>
            <a:ext cx="1554480" cy="329184"/>
          </a:xfrm>
          <a:prstGeom prst="roundRect">
            <a:avLst>
              <a:gd name="adj" fmla="val 45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34439" y="1783080"/>
            <a:ext cx="1280160" cy="237744"/>
          </a:xfrm>
          <a:prstGeom prst="rect">
            <a:avLst/>
          </a:prstGeom>
          <a:noFill/>
        </p:spPr>
        <p:txBody>
          <a:bodyPr wrap="square">
            <a:spAutoFit/>
          </a:bodyPr>
          <a:lstStyle/>
          <a:p>
            <a:pPr algn="ctr"/>
            <a:r>
              <a:rPr sz="1000" b="1" i="0">
                <a:solidFill>
                  <a:srgbClr val="FFFFFF"/>
                </a:solidFill>
                <a:latin typeface="Inter"/>
              </a:rPr>
              <a:t>PreToolUse</a:t>
            </a:r>
          </a:p>
        </p:txBody>
      </p:sp>
      <p:cxnSp>
        <p:nvCxnSpPr>
          <p:cNvPr id="7" name="Connector 6"/>
          <p:cNvCxnSpPr/>
          <p:nvPr/>
        </p:nvCxnSpPr>
        <p:spPr>
          <a:xfrm>
            <a:off x="1097280" y="2121408"/>
            <a:ext cx="10058400" cy="0"/>
          </a:xfrm>
          <a:prstGeom prst="line">
            <a:avLst/>
          </a:prstGeom>
          <a:ln w="25400">
            <a:solidFill>
              <a:srgbClr val="FF49E2"/>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11480" y="2240280"/>
            <a:ext cx="5394960" cy="2560320"/>
          </a:xfrm>
          <a:prstGeom prst="roundRect">
            <a:avLst>
              <a:gd name="adj" fmla="val 6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2395728"/>
            <a:ext cx="4846320" cy="365760"/>
          </a:xfrm>
          <a:prstGeom prst="rect">
            <a:avLst/>
          </a:prstGeom>
          <a:noFill/>
        </p:spPr>
        <p:txBody>
          <a:bodyPr wrap="square">
            <a:spAutoFit/>
          </a:bodyPr>
          <a:lstStyle/>
          <a:p>
            <a:pPr algn="l"/>
            <a:r>
              <a:rPr sz="1000" b="1" i="0">
                <a:solidFill>
                  <a:srgbClr val="FF49E2"/>
                </a:solidFill>
                <a:latin typeface="Inter"/>
              </a:rPr>
              <a:t>PROMPT TYPED LIVE</a:t>
            </a:r>
          </a:p>
        </p:txBody>
      </p:sp>
      <p:sp>
        <p:nvSpPr>
          <p:cNvPr id="10" name="Rounded Rectangle 9"/>
          <p:cNvSpPr/>
          <p:nvPr/>
        </p:nvSpPr>
        <p:spPr>
          <a:xfrm>
            <a:off x="685800" y="2743200"/>
            <a:ext cx="4937760" cy="1737360"/>
          </a:xfrm>
          <a:prstGeom prst="roundRect">
            <a:avLst>
              <a:gd name="adj" fmla="val 6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2926080"/>
            <a:ext cx="4480560" cy="1280160"/>
          </a:xfrm>
          <a:prstGeom prst="rect">
            <a:avLst/>
          </a:prstGeom>
          <a:noFill/>
        </p:spPr>
        <p:txBody>
          <a:bodyPr wrap="none">
            <a:spAutoFit/>
          </a:bodyPr>
          <a:lstStyle/>
          <a:p>
            <a:r>
              <a:rPr sz="1100">
                <a:solidFill>
                  <a:srgbClr val="FFFFFF"/>
                </a:solidFill>
                <a:latin typeface="Courier New"/>
              </a:rPr>
              <a:t>"Add a fallback password</a:t>
            </a:r>
          </a:p>
          <a:p>
            <a:r>
              <a:rPr sz="1100">
                <a:solidFill>
                  <a:srgbClr val="FFFFFF"/>
                </a:solidFill>
                <a:latin typeface="Courier New"/>
              </a:rPr>
              <a:t> DANGEROUS_PLAINTEXT_PASSWORD</a:t>
            </a:r>
          </a:p>
          <a:p>
            <a:r>
              <a:rPr sz="1100">
                <a:solidFill>
                  <a:srgbClr val="FFFFFF"/>
                </a:solidFill>
                <a:latin typeface="Courier New"/>
              </a:rPr>
              <a:t> for dev testing"</a:t>
            </a:r>
          </a:p>
        </p:txBody>
      </p:sp>
      <p:sp>
        <p:nvSpPr>
          <p:cNvPr id="12" name="Rounded Rectangle 11"/>
          <p:cNvSpPr/>
          <p:nvPr/>
        </p:nvSpPr>
        <p:spPr>
          <a:xfrm>
            <a:off x="6263640" y="2240280"/>
            <a:ext cx="5486400" cy="2560320"/>
          </a:xfrm>
          <a:prstGeom prst="roundRect">
            <a:avLst>
              <a:gd name="adj" fmla="val 6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37960" y="2395728"/>
            <a:ext cx="4937760" cy="365760"/>
          </a:xfrm>
          <a:prstGeom prst="rect">
            <a:avLst/>
          </a:prstGeom>
          <a:noFill/>
        </p:spPr>
        <p:txBody>
          <a:bodyPr wrap="square">
            <a:spAutoFit/>
          </a:bodyPr>
          <a:lstStyle/>
          <a:p>
            <a:pPr algn="l"/>
            <a:r>
              <a:rPr sz="1000" b="1" i="0">
                <a:solidFill>
                  <a:srgbClr val="FF49E2"/>
                </a:solidFill>
                <a:latin typeface="Inter"/>
              </a:rPr>
              <a:t>HOOK RETURNS</a:t>
            </a:r>
          </a:p>
        </p:txBody>
      </p:sp>
      <p:sp>
        <p:nvSpPr>
          <p:cNvPr id="14" name="Rounded Rectangle 13"/>
          <p:cNvSpPr/>
          <p:nvPr/>
        </p:nvSpPr>
        <p:spPr>
          <a:xfrm>
            <a:off x="6537960" y="2743200"/>
            <a:ext cx="4937760" cy="1737360"/>
          </a:xfrm>
          <a:prstGeom prst="roundRect">
            <a:avLst>
              <a:gd name="adj" fmla="val 6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766560" y="2926080"/>
            <a:ext cx="4480560" cy="1280160"/>
          </a:xfrm>
          <a:prstGeom prst="rect">
            <a:avLst/>
          </a:prstGeom>
          <a:noFill/>
        </p:spPr>
        <p:txBody>
          <a:bodyPr wrap="none">
            <a:spAutoFit/>
          </a:bodyPr>
          <a:lstStyle/>
          <a:p>
            <a:r>
              <a:rPr sz="1100">
                <a:solidFill>
                  <a:srgbClr val="FFFFFF"/>
                </a:solidFill>
                <a:latin typeface="Courier New"/>
              </a:rPr>
              <a:t>{</a:t>
            </a:r>
          </a:p>
          <a:p>
            <a:r>
              <a:rPr sz="1100">
                <a:solidFill>
                  <a:srgbClr val="FFFFFF"/>
                </a:solidFill>
                <a:latin typeface="Courier New"/>
              </a:rPr>
              <a:t>  "action": "deny",</a:t>
            </a:r>
          </a:p>
          <a:p>
            <a:r>
              <a:rPr sz="1100">
                <a:solidFill>
                  <a:srgbClr val="FFFFFF"/>
                </a:solidFill>
                <a:latin typeface="Courier New"/>
              </a:rPr>
              <a:t>  "reason": "Plaintext password detected.</a:t>
            </a:r>
          </a:p>
          <a:p>
            <a:r>
              <a:rPr sz="1100">
                <a:solidFill>
                  <a:srgbClr val="FFFFFF"/>
                </a:solidFill>
                <a:latin typeface="Courier New"/>
              </a:rPr>
              <a:t>    Writing this file has been blocked</a:t>
            </a:r>
          </a:p>
          <a:p>
            <a:r>
              <a:rPr sz="1100">
                <a:solidFill>
                  <a:srgbClr val="FFFFFF"/>
                </a:solidFill>
                <a:latin typeface="Courier New"/>
              </a:rPr>
              <a:t>    by security-guard hook."</a:t>
            </a:r>
          </a:p>
          <a:p>
            <a:r>
              <a:rPr sz="1100">
                <a:solidFill>
                  <a:srgbClr val="FFFFFF"/>
                </a:solidFill>
                <a:latin typeface="Courier New"/>
              </a:rPr>
              <a:t>}</a:t>
            </a:r>
          </a:p>
        </p:txBody>
      </p:sp>
      <p:sp>
        <p:nvSpPr>
          <p:cNvPr id="16" name="Rounded Rectangle 15"/>
          <p:cNvSpPr/>
          <p:nvPr/>
        </p:nvSpPr>
        <p:spPr>
          <a:xfrm>
            <a:off x="411480" y="5047488"/>
            <a:ext cx="11338560" cy="1481328"/>
          </a:xfrm>
          <a:prstGeom prst="roundRect">
            <a:avLst>
              <a:gd name="adj" fmla="val 7000"/>
            </a:avLst>
          </a:prstGeom>
          <a:solidFill>
            <a:srgbClr val="FF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5193792"/>
            <a:ext cx="1828800" cy="320040"/>
          </a:xfrm>
          <a:prstGeom prst="rect">
            <a:avLst/>
          </a:prstGeom>
          <a:noFill/>
        </p:spPr>
        <p:txBody>
          <a:bodyPr wrap="square">
            <a:spAutoFit/>
          </a:bodyPr>
          <a:lstStyle/>
          <a:p>
            <a:pPr algn="l"/>
            <a:r>
              <a:rPr sz="1100" b="1" i="0">
                <a:solidFill>
                  <a:srgbClr val="FFFFFF"/>
                </a:solidFill>
                <a:latin typeface="Inter"/>
              </a:rPr>
              <a:t>KEY INSIGHT</a:t>
            </a:r>
          </a:p>
        </p:txBody>
      </p:sp>
      <p:sp>
        <p:nvSpPr>
          <p:cNvPr id="18" name="TextBox 17"/>
          <p:cNvSpPr txBox="1"/>
          <p:nvPr/>
        </p:nvSpPr>
        <p:spPr>
          <a:xfrm>
            <a:off x="2743200" y="5166360"/>
            <a:ext cx="8686800" cy="502920"/>
          </a:xfrm>
          <a:prstGeom prst="rect">
            <a:avLst/>
          </a:prstGeom>
          <a:noFill/>
        </p:spPr>
        <p:txBody>
          <a:bodyPr wrap="square">
            <a:spAutoFit/>
          </a:bodyPr>
          <a:lstStyle/>
          <a:p>
            <a:pPr algn="l"/>
            <a:r>
              <a:rPr sz="1900" b="0" i="1">
                <a:solidFill>
                  <a:srgbClr val="FFFFFF"/>
                </a:solidFill>
                <a:latin typeface="Inter Light"/>
              </a:rPr>
              <a:t>The hook does not reason. It pattern-matches. That is the point.</a:t>
            </a:r>
          </a:p>
        </p:txBody>
      </p:sp>
      <p:sp>
        <p:nvSpPr>
          <p:cNvPr id="19" name="TextBox 18"/>
          <p:cNvSpPr txBox="1"/>
          <p:nvPr/>
        </p:nvSpPr>
        <p:spPr>
          <a:xfrm>
            <a:off x="2743200" y="5669280"/>
            <a:ext cx="8686800" cy="502920"/>
          </a:xfrm>
          <a:prstGeom prst="rect">
            <a:avLst/>
          </a:prstGeom>
          <a:noFill/>
        </p:spPr>
        <p:txBody>
          <a:bodyPr wrap="square">
            <a:spAutoFit/>
          </a:bodyPr>
          <a:lstStyle/>
          <a:p>
            <a:pPr algn="l"/>
            <a:r>
              <a:rPr sz="1400" b="0" i="0">
                <a:solidFill>
                  <a:srgbClr val="FFFFFF"/>
                </a:solidFill>
                <a:latin typeface="Inter Light"/>
              </a:rPr>
              <a:t>No model involved. No chance of being argued out of it.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MaxContact_M_Icon_Free.png"/>
          <p:cNvPicPr>
            <a:picLocks noChangeAspect="1"/>
          </p:cNvPicPr>
          <p:nvPr/>
        </p:nvPicPr>
        <p:blipFill>
          <a:blip r:embed="rId3"/>
          <a:stretch>
            <a:fillRect/>
          </a:stretch>
        </p:blipFill>
        <p:spPr>
          <a:xfrm>
            <a:off x="502920" y="256032"/>
            <a:ext cx="457200" cy="283464"/>
          </a:xfrm>
          <a:prstGeom prst="rect">
            <a:avLst/>
          </a:prstGeom>
        </p:spPr>
      </p:pic>
      <p:sp>
        <p:nvSpPr>
          <p:cNvPr id="3" name="TextBox 2"/>
          <p:cNvSpPr txBox="1"/>
          <p:nvPr/>
        </p:nvSpPr>
        <p:spPr>
          <a:xfrm>
            <a:off x="1097280" y="1005840"/>
            <a:ext cx="10515600" cy="685800"/>
          </a:xfrm>
          <a:prstGeom prst="rect">
            <a:avLst/>
          </a:prstGeom>
          <a:noFill/>
        </p:spPr>
        <p:txBody>
          <a:bodyPr wrap="square">
            <a:spAutoFit/>
          </a:bodyPr>
          <a:lstStyle/>
          <a:p>
            <a:pPr algn="l"/>
            <a:r>
              <a:rPr sz="3400" b="1" i="0">
                <a:solidFill>
                  <a:srgbClr val="3F113A"/>
                </a:solidFill>
                <a:latin typeface="Inter"/>
              </a:rPr>
              <a:t>DEMO 2: AUTO-FORMAT</a:t>
            </a:r>
          </a:p>
        </p:txBody>
      </p:sp>
      <p:sp>
        <p:nvSpPr>
          <p:cNvPr id="4" name="Rounded Rectangle 3"/>
          <p:cNvSpPr/>
          <p:nvPr/>
        </p:nvSpPr>
        <p:spPr>
          <a:xfrm>
            <a:off x="1097280" y="1719072"/>
            <a:ext cx="1645920" cy="329184"/>
          </a:xfrm>
          <a:prstGeom prst="roundRect">
            <a:avLst>
              <a:gd name="adj" fmla="val 45000"/>
            </a:avLst>
          </a:prstGeom>
          <a:solidFill>
            <a:srgbClr val="FF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234439" y="1783080"/>
            <a:ext cx="1371600" cy="237744"/>
          </a:xfrm>
          <a:prstGeom prst="rect">
            <a:avLst/>
          </a:prstGeom>
          <a:noFill/>
        </p:spPr>
        <p:txBody>
          <a:bodyPr wrap="square">
            <a:spAutoFit/>
          </a:bodyPr>
          <a:lstStyle/>
          <a:p>
            <a:pPr algn="ctr"/>
            <a:r>
              <a:rPr sz="1000" b="1" i="0">
                <a:solidFill>
                  <a:srgbClr val="FFFFFF"/>
                </a:solidFill>
                <a:latin typeface="Inter"/>
              </a:rPr>
              <a:t>PostToolUse</a:t>
            </a:r>
          </a:p>
        </p:txBody>
      </p:sp>
      <p:cxnSp>
        <p:nvCxnSpPr>
          <p:cNvPr id="6" name="Connector 5"/>
          <p:cNvCxnSpPr/>
          <p:nvPr/>
        </p:nvCxnSpPr>
        <p:spPr>
          <a:xfrm>
            <a:off x="1097280" y="2121408"/>
            <a:ext cx="10058400" cy="0"/>
          </a:xfrm>
          <a:prstGeom prst="line">
            <a:avLst/>
          </a:prstGeom>
          <a:ln w="25400">
            <a:solidFill>
              <a:srgbClr val="FF49E2"/>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11480" y="2240280"/>
            <a:ext cx="11338560" cy="640080"/>
          </a:xfrm>
          <a:prstGeom prst="roundRect">
            <a:avLst>
              <a:gd name="adj" fmla="val 6000"/>
            </a:avLst>
          </a:prstGeom>
          <a:solidFill>
            <a:srgbClr val="EF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2350008"/>
            <a:ext cx="10789920" cy="411480"/>
          </a:xfrm>
          <a:prstGeom prst="rect">
            <a:avLst/>
          </a:prstGeom>
          <a:noFill/>
        </p:spPr>
        <p:txBody>
          <a:bodyPr wrap="square">
            <a:spAutoFit/>
          </a:bodyPr>
          <a:lstStyle/>
          <a:p>
            <a:pPr algn="l"/>
            <a:r>
              <a:rPr sz="1300" b="0" i="1">
                <a:solidFill>
                  <a:srgbClr val="3F113A"/>
                </a:solidFill>
                <a:latin typeface="Inter Light"/>
              </a:rPr>
              <a:t>PROMPT: "Add a loading spinner to the login button. Do not worry about formatting."</a:t>
            </a:r>
          </a:p>
        </p:txBody>
      </p:sp>
      <p:sp>
        <p:nvSpPr>
          <p:cNvPr id="9" name="Rounded Rectangle 8"/>
          <p:cNvSpPr/>
          <p:nvPr/>
        </p:nvSpPr>
        <p:spPr>
          <a:xfrm>
            <a:off x="411480" y="3017520"/>
            <a:ext cx="5394960" cy="2743200"/>
          </a:xfrm>
          <a:prstGeom prst="roundRect">
            <a:avLst>
              <a:gd name="adj" fmla="val 6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3172968"/>
            <a:ext cx="4937760" cy="365760"/>
          </a:xfrm>
          <a:prstGeom prst="rect">
            <a:avLst/>
          </a:prstGeom>
          <a:noFill/>
        </p:spPr>
        <p:txBody>
          <a:bodyPr wrap="square">
            <a:spAutoFit/>
          </a:bodyPr>
          <a:lstStyle/>
          <a:p>
            <a:pPr algn="l"/>
            <a:r>
              <a:rPr sz="1000" b="1" i="0">
                <a:solidFill>
                  <a:srgbClr val="FF8080"/>
                </a:solidFill>
                <a:latin typeface="Inter"/>
              </a:rPr>
              <a:t>BEFORE  (raw AI output)</a:t>
            </a:r>
          </a:p>
        </p:txBody>
      </p:sp>
      <p:sp>
        <p:nvSpPr>
          <p:cNvPr id="11" name="Rounded Rectangle 10"/>
          <p:cNvSpPr/>
          <p:nvPr/>
        </p:nvSpPr>
        <p:spPr>
          <a:xfrm>
            <a:off x="685800" y="3547872"/>
            <a:ext cx="4937760" cy="1920240"/>
          </a:xfrm>
          <a:prstGeom prst="roundRect">
            <a:avLst>
              <a:gd name="adj" fmla="val 6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3730752"/>
            <a:ext cx="4480560" cy="1463040"/>
          </a:xfrm>
          <a:prstGeom prst="rect">
            <a:avLst/>
          </a:prstGeom>
          <a:noFill/>
        </p:spPr>
        <p:txBody>
          <a:bodyPr wrap="none">
            <a:spAutoFit/>
          </a:bodyPr>
          <a:lstStyle/>
          <a:p>
            <a:r>
              <a:rPr sz="1100">
                <a:solidFill>
                  <a:srgbClr val="FFC0C0"/>
                </a:solidFill>
                <a:latin typeface="Courier New"/>
              </a:rPr>
              <a:t>&lt;button @click="login" :disabled="loading"  &gt;</a:t>
            </a:r>
          </a:p>
          <a:p>
            <a:r>
              <a:rPr sz="1100">
                <a:solidFill>
                  <a:srgbClr val="FFC0C0"/>
                </a:solidFill>
                <a:latin typeface="Courier New"/>
              </a:rPr>
              <a:t>&lt;span v-if="loading"  &gt;Loading...&lt;/span&gt;</a:t>
            </a:r>
          </a:p>
          <a:p>
            <a:r>
              <a:rPr sz="1100">
                <a:solidFill>
                  <a:srgbClr val="FFC0C0"/>
                </a:solidFill>
                <a:latin typeface="Courier New"/>
              </a:rPr>
              <a:t>  &lt;span v-else&gt;Login&lt;/span&gt;</a:t>
            </a:r>
          </a:p>
          <a:p>
            <a:r>
              <a:rPr sz="1100">
                <a:solidFill>
                  <a:srgbClr val="FFC0C0"/>
                </a:solidFill>
                <a:latin typeface="Courier New"/>
              </a:rPr>
              <a:t>    &lt;/button&gt;</a:t>
            </a:r>
          </a:p>
        </p:txBody>
      </p:sp>
      <p:sp>
        <p:nvSpPr>
          <p:cNvPr id="13" name="TextBox 12"/>
          <p:cNvSpPr txBox="1"/>
          <p:nvPr/>
        </p:nvSpPr>
        <p:spPr>
          <a:xfrm>
            <a:off x="5989320" y="3977639"/>
            <a:ext cx="1005840" cy="411480"/>
          </a:xfrm>
          <a:prstGeom prst="rect">
            <a:avLst/>
          </a:prstGeom>
          <a:noFill/>
        </p:spPr>
        <p:txBody>
          <a:bodyPr wrap="square">
            <a:spAutoFit/>
          </a:bodyPr>
          <a:lstStyle/>
          <a:p>
            <a:pPr algn="ctr"/>
            <a:r>
              <a:rPr sz="900" b="1" i="0">
                <a:solidFill>
                  <a:srgbClr val="FF49E2"/>
                </a:solidFill>
                <a:latin typeface="Inter"/>
              </a:rPr>
              <a:t>npx prettier --write</a:t>
            </a:r>
          </a:p>
        </p:txBody>
      </p:sp>
      <p:sp>
        <p:nvSpPr>
          <p:cNvPr id="14" name="TextBox 13"/>
          <p:cNvSpPr txBox="1"/>
          <p:nvPr/>
        </p:nvSpPr>
        <p:spPr>
          <a:xfrm>
            <a:off x="6035040" y="4297680"/>
            <a:ext cx="822960" cy="457200"/>
          </a:xfrm>
          <a:prstGeom prst="rect">
            <a:avLst/>
          </a:prstGeom>
          <a:noFill/>
        </p:spPr>
        <p:txBody>
          <a:bodyPr wrap="square">
            <a:spAutoFit/>
          </a:bodyPr>
          <a:lstStyle/>
          <a:p>
            <a:pPr algn="ctr"/>
            <a:r>
              <a:rPr sz="2600" b="1" i="0">
                <a:solidFill>
                  <a:srgbClr val="FF49E2"/>
                </a:solidFill>
                <a:latin typeface="Inter"/>
              </a:rPr>
              <a:t>→</a:t>
            </a:r>
          </a:p>
        </p:txBody>
      </p:sp>
      <p:sp>
        <p:nvSpPr>
          <p:cNvPr id="15" name="Rounded Rectangle 14"/>
          <p:cNvSpPr/>
          <p:nvPr/>
        </p:nvSpPr>
        <p:spPr>
          <a:xfrm>
            <a:off x="7269480" y="3017520"/>
            <a:ext cx="4937760" cy="2743200"/>
          </a:xfrm>
          <a:prstGeom prst="roundRect">
            <a:avLst>
              <a:gd name="adj" fmla="val 6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543800" y="3172968"/>
            <a:ext cx="4389120" cy="365760"/>
          </a:xfrm>
          <a:prstGeom prst="rect">
            <a:avLst/>
          </a:prstGeom>
          <a:noFill/>
        </p:spPr>
        <p:txBody>
          <a:bodyPr wrap="square">
            <a:spAutoFit/>
          </a:bodyPr>
          <a:lstStyle/>
          <a:p>
            <a:pPr algn="l"/>
            <a:r>
              <a:rPr sz="1000" b="1" i="0">
                <a:solidFill>
                  <a:srgbClr val="80FFC0"/>
                </a:solidFill>
                <a:latin typeface="Inter"/>
              </a:rPr>
              <a:t>AFTER  (Prettier cleaned)</a:t>
            </a:r>
          </a:p>
        </p:txBody>
      </p:sp>
      <p:sp>
        <p:nvSpPr>
          <p:cNvPr id="17" name="Rounded Rectangle 16"/>
          <p:cNvSpPr/>
          <p:nvPr/>
        </p:nvSpPr>
        <p:spPr>
          <a:xfrm>
            <a:off x="7543800" y="3547872"/>
            <a:ext cx="4389120" cy="1920240"/>
          </a:xfrm>
          <a:prstGeom prst="roundRect">
            <a:avLst>
              <a:gd name="adj" fmla="val 6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0" y="3730752"/>
            <a:ext cx="3931920" cy="1463040"/>
          </a:xfrm>
          <a:prstGeom prst="rect">
            <a:avLst/>
          </a:prstGeom>
          <a:noFill/>
        </p:spPr>
        <p:txBody>
          <a:bodyPr wrap="none">
            <a:spAutoFit/>
          </a:bodyPr>
          <a:lstStyle/>
          <a:p>
            <a:r>
              <a:rPr sz="1100">
                <a:solidFill>
                  <a:srgbClr val="B0FFD8"/>
                </a:solidFill>
                <a:latin typeface="Courier New"/>
              </a:rPr>
              <a:t>&lt;button @click="login" :disabled="loading"&gt;</a:t>
            </a:r>
          </a:p>
          <a:p>
            <a:r>
              <a:rPr sz="1100">
                <a:solidFill>
                  <a:srgbClr val="B0FFD8"/>
                </a:solidFill>
                <a:latin typeface="Courier New"/>
              </a:rPr>
              <a:t>  &lt;span v-if="loading"&gt;Loading...&lt;/span&gt;</a:t>
            </a:r>
          </a:p>
          <a:p>
            <a:r>
              <a:rPr sz="1100">
                <a:solidFill>
                  <a:srgbClr val="B0FFD8"/>
                </a:solidFill>
                <a:latin typeface="Courier New"/>
              </a:rPr>
              <a:t>  &lt;span v-else&gt;Login&lt;/span&gt;</a:t>
            </a:r>
          </a:p>
          <a:p>
            <a:r>
              <a:rPr sz="1100">
                <a:solidFill>
                  <a:srgbClr val="B0FFD8"/>
                </a:solidFill>
                <a:latin typeface="Courier New"/>
              </a:rPr>
              <a:t>&lt;/button&gt;</a:t>
            </a:r>
          </a:p>
        </p:txBody>
      </p:sp>
      <p:sp>
        <p:nvSpPr>
          <p:cNvPr id="19" name="Rounded Rectangle 18"/>
          <p:cNvSpPr/>
          <p:nvPr/>
        </p:nvSpPr>
        <p:spPr>
          <a:xfrm>
            <a:off x="411480" y="5989320"/>
            <a:ext cx="11338560" cy="594360"/>
          </a:xfrm>
          <a:prstGeom prst="roundRect">
            <a:avLst>
              <a:gd name="adj" fmla="val 6000"/>
            </a:avLst>
          </a:prstGeom>
          <a:solidFill>
            <a:srgbClr val="EF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6053328"/>
            <a:ext cx="10515600" cy="411480"/>
          </a:xfrm>
          <a:prstGeom prst="rect">
            <a:avLst/>
          </a:prstGeom>
          <a:noFill/>
        </p:spPr>
        <p:txBody>
          <a:bodyPr wrap="square">
            <a:spAutoFit/>
          </a:bodyPr>
          <a:lstStyle/>
          <a:p>
            <a:pPr algn="l"/>
            <a:r>
              <a:rPr sz="1600" b="0" i="1">
                <a:solidFill>
                  <a:srgbClr val="3F113A"/>
                </a:solidFill>
                <a:latin typeface="Inter Light"/>
              </a:rPr>
              <a:t>Style is enforced, not suggested.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FEBE6"/>
        </a:solidFill>
        <a:effectLst/>
      </p:bgPr>
    </p:bg>
    <p:spTree>
      <p:nvGrpSpPr>
        <p:cNvPr id="1" name=""/>
        <p:cNvGrpSpPr/>
        <p:nvPr/>
      </p:nvGrpSpPr>
      <p:grpSpPr>
        <a:xfrm>
          <a:off x="0" y="0"/>
          <a:ext cx="0" cy="0"/>
          <a:chOff x="0" y="0"/>
          <a:chExt cx="0" cy="0"/>
        </a:xfrm>
      </p:grpSpPr>
      <p:pic>
        <p:nvPicPr>
          <p:cNvPr id="2" name="Picture 1" descr="MaxContact_M_Icon_Free.png"/>
          <p:cNvPicPr>
            <a:picLocks noChangeAspect="1"/>
          </p:cNvPicPr>
          <p:nvPr/>
        </p:nvPicPr>
        <p:blipFill>
          <a:blip r:embed="rId3"/>
          <a:stretch>
            <a:fillRect/>
          </a:stretch>
        </p:blipFill>
        <p:spPr>
          <a:xfrm>
            <a:off x="502920" y="256032"/>
            <a:ext cx="457200" cy="283464"/>
          </a:xfrm>
          <a:prstGeom prst="rect">
            <a:avLst/>
          </a:prstGeom>
        </p:spPr>
      </p:pic>
      <p:sp>
        <p:nvSpPr>
          <p:cNvPr id="3" name="TextBox 2"/>
          <p:cNvSpPr txBox="1"/>
          <p:nvPr/>
        </p:nvSpPr>
        <p:spPr>
          <a:xfrm>
            <a:off x="1097280" y="1005840"/>
            <a:ext cx="10515600" cy="685800"/>
          </a:xfrm>
          <a:prstGeom prst="rect">
            <a:avLst/>
          </a:prstGeom>
          <a:noFill/>
        </p:spPr>
        <p:txBody>
          <a:bodyPr wrap="square">
            <a:spAutoFit/>
          </a:bodyPr>
          <a:lstStyle/>
          <a:p>
            <a:pPr algn="l"/>
            <a:r>
              <a:rPr sz="3400" b="1" i="0">
                <a:solidFill>
                  <a:srgbClr val="3F113A"/>
                </a:solidFill>
                <a:latin typeface="Inter"/>
              </a:rPr>
              <a:t>DEMO 3: CONTEXT INJECTION</a:t>
            </a:r>
          </a:p>
        </p:txBody>
      </p:sp>
      <p:sp>
        <p:nvSpPr>
          <p:cNvPr id="4" name="Rounded Rectangle 3"/>
          <p:cNvSpPr/>
          <p:nvPr/>
        </p:nvSpPr>
        <p:spPr>
          <a:xfrm>
            <a:off x="1097280" y="1719072"/>
            <a:ext cx="2011680" cy="329184"/>
          </a:xfrm>
          <a:prstGeom prst="roundRect">
            <a:avLst>
              <a:gd name="adj" fmla="val 45000"/>
            </a:avLst>
          </a:prstGeom>
          <a:solidFill>
            <a:srgbClr val="27CD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234439" y="1783080"/>
            <a:ext cx="1737360" cy="237744"/>
          </a:xfrm>
          <a:prstGeom prst="rect">
            <a:avLst/>
          </a:prstGeom>
          <a:noFill/>
        </p:spPr>
        <p:txBody>
          <a:bodyPr wrap="square">
            <a:spAutoFit/>
          </a:bodyPr>
          <a:lstStyle/>
          <a:p>
            <a:pPr algn="ctr"/>
            <a:r>
              <a:rPr sz="1000" b="1" i="0">
                <a:solidFill>
                  <a:srgbClr val="3F113A"/>
                </a:solidFill>
                <a:latin typeface="Inter"/>
              </a:rPr>
              <a:t>UserPromptSubmit</a:t>
            </a:r>
          </a:p>
        </p:txBody>
      </p:sp>
      <p:cxnSp>
        <p:nvCxnSpPr>
          <p:cNvPr id="6" name="Connector 5"/>
          <p:cNvCxnSpPr/>
          <p:nvPr/>
        </p:nvCxnSpPr>
        <p:spPr>
          <a:xfrm>
            <a:off x="1097280" y="2121408"/>
            <a:ext cx="10058400" cy="0"/>
          </a:xfrm>
          <a:prstGeom prst="line">
            <a:avLst/>
          </a:prstGeom>
          <a:ln w="25400">
            <a:solidFill>
              <a:srgbClr val="FF49E2"/>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11480" y="2286000"/>
            <a:ext cx="2560320" cy="685800"/>
          </a:xfrm>
          <a:prstGeom prst="roundRect">
            <a:avLst>
              <a:gd name="adj" fmla="val 40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2450592"/>
            <a:ext cx="2560320" cy="365760"/>
          </a:xfrm>
          <a:prstGeom prst="rect">
            <a:avLst/>
          </a:prstGeom>
          <a:noFill/>
        </p:spPr>
        <p:txBody>
          <a:bodyPr wrap="square">
            <a:spAutoFit/>
          </a:bodyPr>
          <a:lstStyle/>
          <a:p>
            <a:pPr algn="ctr"/>
            <a:r>
              <a:rPr sz="1300" b="1" i="0">
                <a:solidFill>
                  <a:srgbClr val="FFFFFF"/>
                </a:solidFill>
                <a:latin typeface="Inter"/>
              </a:rPr>
              <a:t>4 WORDS TYPED</a:t>
            </a:r>
          </a:p>
        </p:txBody>
      </p:sp>
      <p:sp>
        <p:nvSpPr>
          <p:cNvPr id="9" name="TextBox 8"/>
          <p:cNvSpPr txBox="1"/>
          <p:nvPr/>
        </p:nvSpPr>
        <p:spPr>
          <a:xfrm>
            <a:off x="3063240" y="2423160"/>
            <a:ext cx="457200" cy="411480"/>
          </a:xfrm>
          <a:prstGeom prst="rect">
            <a:avLst/>
          </a:prstGeom>
          <a:noFill/>
        </p:spPr>
        <p:txBody>
          <a:bodyPr wrap="square">
            <a:spAutoFit/>
          </a:bodyPr>
          <a:lstStyle/>
          <a:p>
            <a:pPr algn="ctr"/>
            <a:r>
              <a:rPr sz="2200" b="1" i="0">
                <a:solidFill>
                  <a:srgbClr val="3F113A"/>
                </a:solidFill>
                <a:latin typeface="Inter"/>
              </a:rPr>
              <a:t>→</a:t>
            </a:r>
          </a:p>
        </p:txBody>
      </p:sp>
      <p:sp>
        <p:nvSpPr>
          <p:cNvPr id="10" name="Rounded Rectangle 9"/>
          <p:cNvSpPr/>
          <p:nvPr/>
        </p:nvSpPr>
        <p:spPr>
          <a:xfrm>
            <a:off x="3611880" y="2286000"/>
            <a:ext cx="2743200" cy="685800"/>
          </a:xfrm>
          <a:prstGeom prst="roundRect">
            <a:avLst>
              <a:gd name="adj" fmla="val 40000"/>
            </a:avLst>
          </a:prstGeom>
          <a:solidFill>
            <a:srgbClr val="FF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11880" y="2450592"/>
            <a:ext cx="2743200" cy="365760"/>
          </a:xfrm>
          <a:prstGeom prst="rect">
            <a:avLst/>
          </a:prstGeom>
          <a:noFill/>
        </p:spPr>
        <p:txBody>
          <a:bodyPr wrap="square">
            <a:spAutoFit/>
          </a:bodyPr>
          <a:lstStyle/>
          <a:p>
            <a:pPr algn="ctr"/>
            <a:r>
              <a:rPr sz="1100" b="1" i="0">
                <a:solidFill>
                  <a:srgbClr val="FFFFFF"/>
                </a:solidFill>
                <a:latin typeface="Inter"/>
              </a:rPr>
              <a:t>HOOK APPENDS SESSIONS.md</a:t>
            </a:r>
          </a:p>
        </p:txBody>
      </p:sp>
      <p:sp>
        <p:nvSpPr>
          <p:cNvPr id="12" name="TextBox 11"/>
          <p:cNvSpPr txBox="1"/>
          <p:nvPr/>
        </p:nvSpPr>
        <p:spPr>
          <a:xfrm>
            <a:off x="6446520" y="2423160"/>
            <a:ext cx="457200" cy="411480"/>
          </a:xfrm>
          <a:prstGeom prst="rect">
            <a:avLst/>
          </a:prstGeom>
          <a:noFill/>
        </p:spPr>
        <p:txBody>
          <a:bodyPr wrap="square">
            <a:spAutoFit/>
          </a:bodyPr>
          <a:lstStyle/>
          <a:p>
            <a:pPr algn="ctr"/>
            <a:r>
              <a:rPr sz="2200" b="1" i="0">
                <a:solidFill>
                  <a:srgbClr val="3F113A"/>
                </a:solidFill>
                <a:latin typeface="Inter"/>
              </a:rPr>
              <a:t>→</a:t>
            </a:r>
          </a:p>
        </p:txBody>
      </p:sp>
      <p:sp>
        <p:nvSpPr>
          <p:cNvPr id="13" name="Rounded Rectangle 12"/>
          <p:cNvSpPr/>
          <p:nvPr/>
        </p:nvSpPr>
        <p:spPr>
          <a:xfrm>
            <a:off x="6995160" y="2286000"/>
            <a:ext cx="3200400" cy="685800"/>
          </a:xfrm>
          <a:prstGeom prst="roundRect">
            <a:avLst>
              <a:gd name="adj" fmla="val 40000"/>
            </a:avLst>
          </a:prstGeom>
          <a:solidFill>
            <a:srgbClr val="27CD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95160" y="2450592"/>
            <a:ext cx="3200400" cy="365760"/>
          </a:xfrm>
          <a:prstGeom prst="rect">
            <a:avLst/>
          </a:prstGeom>
          <a:noFill/>
        </p:spPr>
        <p:txBody>
          <a:bodyPr wrap="square">
            <a:spAutoFit/>
          </a:bodyPr>
          <a:lstStyle/>
          <a:p>
            <a:pPr algn="ctr"/>
            <a:r>
              <a:rPr sz="1100" b="1" i="0">
                <a:solidFill>
                  <a:srgbClr val="3F113A"/>
                </a:solidFill>
                <a:latin typeface="Inter"/>
              </a:rPr>
              <a:t>CLAUDE GETS FULL CONTEXT</a:t>
            </a:r>
          </a:p>
        </p:txBody>
      </p:sp>
      <p:sp>
        <p:nvSpPr>
          <p:cNvPr id="15" name="Rounded Rectangle 14"/>
          <p:cNvSpPr/>
          <p:nvPr/>
        </p:nvSpPr>
        <p:spPr>
          <a:xfrm>
            <a:off x="411480" y="3154680"/>
            <a:ext cx="3017520" cy="2606040"/>
          </a:xfrm>
          <a:prstGeom prst="roundRect">
            <a:avLst>
              <a:gd name="adj" fmla="val 6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3310128"/>
            <a:ext cx="2468880" cy="365760"/>
          </a:xfrm>
          <a:prstGeom prst="rect">
            <a:avLst/>
          </a:prstGeom>
          <a:noFill/>
        </p:spPr>
        <p:txBody>
          <a:bodyPr wrap="square">
            <a:spAutoFit/>
          </a:bodyPr>
          <a:lstStyle/>
          <a:p>
            <a:pPr algn="l"/>
            <a:r>
              <a:rPr sz="1000" b="1" i="0">
                <a:solidFill>
                  <a:srgbClr val="FF49E2"/>
                </a:solidFill>
                <a:latin typeface="Inter"/>
              </a:rPr>
              <a:t>WHAT YOU TYPE</a:t>
            </a:r>
          </a:p>
        </p:txBody>
      </p:sp>
      <p:sp>
        <p:nvSpPr>
          <p:cNvPr id="17" name="Rounded Rectangle 16"/>
          <p:cNvSpPr/>
          <p:nvPr/>
        </p:nvSpPr>
        <p:spPr>
          <a:xfrm>
            <a:off x="685800" y="3675887"/>
            <a:ext cx="2514600" cy="1737360"/>
          </a:xfrm>
          <a:prstGeom prst="roundRect">
            <a:avLst>
              <a:gd name="adj" fmla="val 6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3858768"/>
            <a:ext cx="2057400" cy="1280160"/>
          </a:xfrm>
          <a:prstGeom prst="rect">
            <a:avLst/>
          </a:prstGeom>
          <a:noFill/>
        </p:spPr>
        <p:txBody>
          <a:bodyPr wrap="none">
            <a:spAutoFit/>
          </a:bodyPr>
          <a:lstStyle/>
          <a:p>
            <a:r>
              <a:rPr sz="1100">
                <a:solidFill>
                  <a:srgbClr val="FFFFFF"/>
                </a:solidFill>
                <a:latin typeface="Courier New"/>
              </a:rPr>
              <a:t>"What should I do next?"</a:t>
            </a:r>
          </a:p>
        </p:txBody>
      </p:sp>
      <p:sp>
        <p:nvSpPr>
          <p:cNvPr id="19" name="Rounded Rectangle 18"/>
          <p:cNvSpPr/>
          <p:nvPr/>
        </p:nvSpPr>
        <p:spPr>
          <a:xfrm>
            <a:off x="3749039" y="3154680"/>
            <a:ext cx="4617720" cy="2606040"/>
          </a:xfrm>
          <a:prstGeom prst="roundRect">
            <a:avLst>
              <a:gd name="adj" fmla="val 6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023360" y="3310128"/>
            <a:ext cx="4069080" cy="365760"/>
          </a:xfrm>
          <a:prstGeom prst="rect">
            <a:avLst/>
          </a:prstGeom>
          <a:noFill/>
        </p:spPr>
        <p:txBody>
          <a:bodyPr wrap="square">
            <a:spAutoFit/>
          </a:bodyPr>
          <a:lstStyle/>
          <a:p>
            <a:pPr algn="l"/>
            <a:r>
              <a:rPr sz="1000" b="1" i="0">
                <a:solidFill>
                  <a:srgbClr val="FF49E2"/>
                </a:solidFill>
                <a:latin typeface="Inter"/>
              </a:rPr>
              <a:t>SESSIONS.md INJECTED BY HOOK</a:t>
            </a:r>
          </a:p>
        </p:txBody>
      </p:sp>
      <p:sp>
        <p:nvSpPr>
          <p:cNvPr id="21" name="Rounded Rectangle 20"/>
          <p:cNvSpPr/>
          <p:nvPr/>
        </p:nvSpPr>
        <p:spPr>
          <a:xfrm>
            <a:off x="4023360" y="3675887"/>
            <a:ext cx="4069080" cy="1737360"/>
          </a:xfrm>
          <a:prstGeom prst="roundRect">
            <a:avLst>
              <a:gd name="adj" fmla="val 6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251960" y="3858768"/>
            <a:ext cx="3611880" cy="1280160"/>
          </a:xfrm>
          <a:prstGeom prst="rect">
            <a:avLst/>
          </a:prstGeom>
          <a:noFill/>
        </p:spPr>
        <p:txBody>
          <a:bodyPr wrap="none">
            <a:spAutoFit/>
          </a:bodyPr>
          <a:lstStyle/>
          <a:p>
            <a:r>
              <a:rPr sz="1100">
                <a:solidFill>
                  <a:srgbClr val="EFEBE6"/>
                </a:solidFill>
                <a:latin typeface="Courier New"/>
              </a:rPr>
              <a:t>## Current Sprint Goals</a:t>
            </a:r>
          </a:p>
          <a:p>
            <a:r>
              <a:rPr sz="1100">
                <a:solidFill>
                  <a:srgbClr val="EFEBE6"/>
                </a:solidFill>
                <a:latin typeface="Courier New"/>
              </a:rPr>
              <a:t>- Fix CSRF in UserLogin.vue</a:t>
            </a:r>
          </a:p>
          <a:p>
            <a:r>
              <a:rPr sz="1100">
                <a:solidFill>
                  <a:srgbClr val="EFEBE6"/>
                </a:solidFill>
                <a:latin typeface="Courier New"/>
              </a:rPr>
              <a:t>- Add rate limiting to /api/data</a:t>
            </a:r>
          </a:p>
          <a:p>
            <a:r>
              <a:rPr sz="1100">
                <a:solidFill>
                  <a:srgbClr val="EFEBE6"/>
                </a:solidFill>
                <a:latin typeface="Courier New"/>
              </a:rPr>
              <a:t>- Write tests for auth flow</a:t>
            </a:r>
          </a:p>
          <a:p>
            <a:endParaRPr sz="1100">
              <a:solidFill>
                <a:srgbClr val="EFEBE6"/>
              </a:solidFill>
              <a:latin typeface="Courier New"/>
            </a:endParaRPr>
          </a:p>
          <a:p>
            <a:r>
              <a:rPr sz="1100">
                <a:solidFill>
                  <a:srgbClr val="EFEBE6"/>
                </a:solidFill>
                <a:latin typeface="Courier New"/>
              </a:rPr>
              <a:t>## Last Session</a:t>
            </a:r>
          </a:p>
          <a:p>
            <a:r>
              <a:rPr sz="1100">
                <a:solidFill>
                  <a:srgbClr val="EFEBE6"/>
                </a:solidFill>
                <a:latin typeface="Courier New"/>
              </a:rPr>
              <a:t>Completed: DB migration</a:t>
            </a:r>
          </a:p>
          <a:p>
            <a:r>
              <a:rPr sz="1100">
                <a:solidFill>
                  <a:srgbClr val="EFEBE6"/>
                </a:solidFill>
                <a:latin typeface="Courier New"/>
              </a:rPr>
              <a:t>Blocked: Security review sign-off</a:t>
            </a:r>
          </a:p>
        </p:txBody>
      </p:sp>
      <p:sp>
        <p:nvSpPr>
          <p:cNvPr id="23" name="Rounded Rectangle 22"/>
          <p:cNvSpPr/>
          <p:nvPr/>
        </p:nvSpPr>
        <p:spPr>
          <a:xfrm>
            <a:off x="8641080" y="3154680"/>
            <a:ext cx="3108960" cy="2606040"/>
          </a:xfrm>
          <a:prstGeom prst="roundRect">
            <a:avLst>
              <a:gd name="adj" fmla="val 7000"/>
            </a:avLst>
          </a:prstGeom>
          <a:solidFill>
            <a:srgbClr val="FF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15400" y="3310128"/>
            <a:ext cx="2560320" cy="365760"/>
          </a:xfrm>
          <a:prstGeom prst="rect">
            <a:avLst/>
          </a:prstGeom>
          <a:noFill/>
        </p:spPr>
        <p:txBody>
          <a:bodyPr wrap="square">
            <a:spAutoFit/>
          </a:bodyPr>
          <a:lstStyle/>
          <a:p>
            <a:pPr algn="l"/>
            <a:r>
              <a:rPr sz="1000" b="1" i="0">
                <a:solidFill>
                  <a:srgbClr val="FFFFFF"/>
                </a:solidFill>
                <a:latin typeface="Inter"/>
              </a:rPr>
              <a:t>KEY INSIGHT</a:t>
            </a:r>
          </a:p>
        </p:txBody>
      </p:sp>
      <p:sp>
        <p:nvSpPr>
          <p:cNvPr id="25" name="TextBox 24"/>
          <p:cNvSpPr txBox="1"/>
          <p:nvPr/>
        </p:nvSpPr>
        <p:spPr>
          <a:xfrm>
            <a:off x="8915400" y="3749039"/>
            <a:ext cx="2560320" cy="914400"/>
          </a:xfrm>
          <a:prstGeom prst="rect">
            <a:avLst/>
          </a:prstGeom>
          <a:noFill/>
        </p:spPr>
        <p:txBody>
          <a:bodyPr wrap="square">
            <a:spAutoFit/>
          </a:bodyPr>
          <a:lstStyle/>
          <a:p>
            <a:pPr algn="l"/>
            <a:r>
              <a:rPr sz="1500" b="0" i="1">
                <a:solidFill>
                  <a:srgbClr val="FFFFFF"/>
                </a:solidFill>
                <a:latin typeface="Inter Light"/>
              </a:rPr>
              <a:t>One markdown file. Every team member. Instant alignment.</a:t>
            </a:r>
          </a:p>
        </p:txBody>
      </p:sp>
      <p:sp>
        <p:nvSpPr>
          <p:cNvPr id="26" name="TextBox 25"/>
          <p:cNvSpPr txBox="1"/>
          <p:nvPr/>
        </p:nvSpPr>
        <p:spPr>
          <a:xfrm>
            <a:off x="8915400" y="4663440"/>
            <a:ext cx="2560320" cy="822960"/>
          </a:xfrm>
          <a:prstGeom prst="rect">
            <a:avLst/>
          </a:prstGeom>
          <a:noFill/>
        </p:spPr>
        <p:txBody>
          <a:bodyPr wrap="square">
            <a:spAutoFit/>
          </a:bodyPr>
          <a:lstStyle/>
          <a:p>
            <a:pPr algn="l"/>
            <a:r>
              <a:rPr sz="1200" b="0" i="0">
                <a:solidFill>
                  <a:srgbClr val="FFFFFF"/>
                </a:solidFill>
                <a:latin typeface="Inter Light"/>
              </a:rPr>
              <a:t>Commit SESSIONS.md and every teammate's Claude instance inherits the current state.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sset_5.png"/>
          <p:cNvPicPr>
            <a:picLocks noChangeAspect="1"/>
          </p:cNvPicPr>
          <p:nvPr/>
        </p:nvPicPr>
        <p:blipFill>
          <a:blip r:embed="rId3"/>
          <a:stretch>
            <a:fillRect/>
          </a:stretch>
        </p:blipFill>
        <p:spPr>
          <a:xfrm>
            <a:off x="0" y="0"/>
            <a:ext cx="12191695" cy="6858000"/>
          </a:xfrm>
          <a:prstGeom prst="rect">
            <a:avLst/>
          </a:prstGeom>
        </p:spPr>
      </p:pic>
      <p:pic>
        <p:nvPicPr>
          <p:cNvPr id="3" name="Picture 2" descr="MaxContact_M_Icon_Free.png"/>
          <p:cNvPicPr>
            <a:picLocks noChangeAspect="1"/>
          </p:cNvPicPr>
          <p:nvPr/>
        </p:nvPicPr>
        <p:blipFill>
          <a:blip r:embed="rId4"/>
          <a:stretch>
            <a:fillRect/>
          </a:stretch>
        </p:blipFill>
        <p:spPr>
          <a:xfrm>
            <a:off x="502920" y="256032"/>
            <a:ext cx="457200" cy="283464"/>
          </a:xfrm>
          <a:prstGeom prst="rect">
            <a:avLst/>
          </a:prstGeom>
        </p:spPr>
      </p:pic>
      <p:sp>
        <p:nvSpPr>
          <p:cNvPr id="4" name="TextBox 3"/>
          <p:cNvSpPr txBox="1"/>
          <p:nvPr/>
        </p:nvSpPr>
        <p:spPr>
          <a:xfrm>
            <a:off x="1097280" y="1005840"/>
            <a:ext cx="10515600" cy="685800"/>
          </a:xfrm>
          <a:prstGeom prst="rect">
            <a:avLst/>
          </a:prstGeom>
          <a:noFill/>
        </p:spPr>
        <p:txBody>
          <a:bodyPr wrap="square">
            <a:spAutoFit/>
          </a:bodyPr>
          <a:lstStyle/>
          <a:p>
            <a:pPr algn="l"/>
            <a:r>
              <a:rPr sz="3400" b="1" i="0">
                <a:solidFill>
                  <a:srgbClr val="FFFFFF"/>
                </a:solidFill>
                <a:latin typeface="Inter"/>
              </a:rPr>
              <a:t>DEMO 4: STOP NOTIFICATION</a:t>
            </a:r>
          </a:p>
        </p:txBody>
      </p:sp>
      <p:sp>
        <p:nvSpPr>
          <p:cNvPr id="5" name="Rounded Rectangle 4"/>
          <p:cNvSpPr/>
          <p:nvPr/>
        </p:nvSpPr>
        <p:spPr>
          <a:xfrm>
            <a:off x="1097280" y="1719072"/>
            <a:ext cx="1188720" cy="329184"/>
          </a:xfrm>
          <a:prstGeom prst="roundRect">
            <a:avLst>
              <a:gd name="adj" fmla="val 45000"/>
            </a:avLst>
          </a:prstGeom>
          <a:solidFill>
            <a:srgbClr val="FF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234439" y="1783080"/>
            <a:ext cx="914400" cy="237744"/>
          </a:xfrm>
          <a:prstGeom prst="rect">
            <a:avLst/>
          </a:prstGeom>
          <a:noFill/>
        </p:spPr>
        <p:txBody>
          <a:bodyPr wrap="square">
            <a:spAutoFit/>
          </a:bodyPr>
          <a:lstStyle/>
          <a:p>
            <a:pPr algn="ctr"/>
            <a:r>
              <a:rPr sz="1000" b="1" i="0">
                <a:solidFill>
                  <a:srgbClr val="FFFFFF"/>
                </a:solidFill>
                <a:latin typeface="Inter"/>
              </a:rPr>
              <a:t>Stop</a:t>
            </a:r>
          </a:p>
        </p:txBody>
      </p:sp>
      <p:cxnSp>
        <p:nvCxnSpPr>
          <p:cNvPr id="7" name="Connector 6"/>
          <p:cNvCxnSpPr/>
          <p:nvPr/>
        </p:nvCxnSpPr>
        <p:spPr>
          <a:xfrm>
            <a:off x="1097280" y="2121408"/>
            <a:ext cx="10058400" cy="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11480" y="2267712"/>
            <a:ext cx="5669280" cy="2423160"/>
          </a:xfrm>
          <a:prstGeom prst="roundRect">
            <a:avLst>
              <a:gd name="adj" fmla="val 6000"/>
            </a:avLst>
          </a:prstGeom>
          <a:solidFill>
            <a:srgbClr val="2A0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2423160"/>
            <a:ext cx="5120640" cy="365760"/>
          </a:xfrm>
          <a:prstGeom prst="rect">
            <a:avLst/>
          </a:prstGeom>
          <a:noFill/>
        </p:spPr>
        <p:txBody>
          <a:bodyPr wrap="square">
            <a:spAutoFit/>
          </a:bodyPr>
          <a:lstStyle/>
          <a:p>
            <a:pPr algn="l"/>
            <a:r>
              <a:rPr sz="1000" b="1" i="0">
                <a:solidFill>
                  <a:srgbClr val="FF49E2"/>
                </a:solidFill>
                <a:latin typeface="Inter"/>
              </a:rPr>
              <a:t>PROMPT TYPED LIVE</a:t>
            </a:r>
          </a:p>
        </p:txBody>
      </p:sp>
      <p:sp>
        <p:nvSpPr>
          <p:cNvPr id="10" name="Rounded Rectangle 9"/>
          <p:cNvSpPr/>
          <p:nvPr/>
        </p:nvSpPr>
        <p:spPr>
          <a:xfrm>
            <a:off x="685800" y="2788920"/>
            <a:ext cx="5120640" cy="1645920"/>
          </a:xfrm>
          <a:prstGeom prst="roundRect">
            <a:avLst>
              <a:gd name="adj" fmla="val 6000"/>
            </a:avLst>
          </a:prstGeom>
          <a:solidFill>
            <a:srgbClr val="2A0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2971800"/>
            <a:ext cx="4663440" cy="1188720"/>
          </a:xfrm>
          <a:prstGeom prst="rect">
            <a:avLst/>
          </a:prstGeom>
          <a:noFill/>
        </p:spPr>
        <p:txBody>
          <a:bodyPr wrap="none">
            <a:spAutoFit/>
          </a:bodyPr>
          <a:lstStyle/>
          <a:p>
            <a:r>
              <a:rPr sz="1100">
                <a:solidFill>
                  <a:srgbClr val="EFEBE6"/>
                </a:solidFill>
                <a:latin typeface="Courier New"/>
              </a:rPr>
              <a:t>"Refactor all auth logic out of</a:t>
            </a:r>
          </a:p>
          <a:p>
            <a:r>
              <a:rPr sz="1100">
                <a:solidFill>
                  <a:srgbClr val="EFEBE6"/>
                </a:solidFill>
                <a:latin typeface="Courier New"/>
              </a:rPr>
              <a:t> UserLogin.vue into a composable,</a:t>
            </a:r>
          </a:p>
          <a:p>
            <a:r>
              <a:rPr sz="1100">
                <a:solidFill>
                  <a:srgbClr val="EFEBE6"/>
                </a:solidFill>
                <a:latin typeface="Courier New"/>
              </a:rPr>
              <a:t> update all references, and add</a:t>
            </a:r>
          </a:p>
          <a:p>
            <a:r>
              <a:rPr sz="1100">
                <a:solidFill>
                  <a:srgbClr val="EFEBE6"/>
                </a:solidFill>
                <a:latin typeface="Courier New"/>
              </a:rPr>
              <a:t> JSDoc comments throughout."</a:t>
            </a:r>
          </a:p>
          <a:p>
            <a:endParaRPr sz="1100">
              <a:solidFill>
                <a:srgbClr val="EFEBE6"/>
              </a:solidFill>
              <a:latin typeface="Courier New"/>
            </a:endParaRPr>
          </a:p>
          <a:p>
            <a:r>
              <a:rPr sz="1100">
                <a:solidFill>
                  <a:srgbClr val="EFEBE6"/>
                </a:solidFill>
                <a:latin typeface="Courier New"/>
              </a:rPr>
              <a:t>(Multi-file task, 60-90 seconds)</a:t>
            </a:r>
          </a:p>
        </p:txBody>
      </p:sp>
      <p:sp>
        <p:nvSpPr>
          <p:cNvPr id="12" name="Rounded Rectangle 11"/>
          <p:cNvSpPr/>
          <p:nvPr/>
        </p:nvSpPr>
        <p:spPr>
          <a:xfrm>
            <a:off x="6446520" y="2267712"/>
            <a:ext cx="5303520" cy="2423160"/>
          </a:xfrm>
          <a:prstGeom prst="roundRect">
            <a:avLst>
              <a:gd name="adj" fmla="val 9000"/>
            </a:avLst>
          </a:prstGeom>
          <a:solidFill>
            <a:srgbClr val="20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720840" y="2423160"/>
            <a:ext cx="4754880" cy="365760"/>
          </a:xfrm>
          <a:prstGeom prst="rect">
            <a:avLst/>
          </a:prstGeom>
          <a:noFill/>
        </p:spPr>
        <p:txBody>
          <a:bodyPr wrap="square">
            <a:spAutoFit/>
          </a:bodyPr>
          <a:lstStyle/>
          <a:p>
            <a:pPr algn="l"/>
            <a:r>
              <a:rPr sz="1000" b="1" i="0">
                <a:solidFill>
                  <a:srgbClr val="FF49E2"/>
                </a:solidFill>
                <a:latin typeface="Inter"/>
              </a:rPr>
              <a:t>DESKTOP NOTIFICATION</a:t>
            </a:r>
          </a:p>
        </p:txBody>
      </p:sp>
      <p:sp>
        <p:nvSpPr>
          <p:cNvPr id="14" name="Rounded Rectangle 13"/>
          <p:cNvSpPr/>
          <p:nvPr/>
        </p:nvSpPr>
        <p:spPr>
          <a:xfrm>
            <a:off x="6720840" y="2816352"/>
            <a:ext cx="4754880" cy="804672"/>
          </a:xfrm>
          <a:prstGeom prst="roundRect">
            <a:avLst>
              <a:gd name="adj" fmla="val 10000"/>
            </a:avLst>
          </a:prstGeom>
          <a:solidFill>
            <a:srgbClr val="383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949440" y="2889504"/>
            <a:ext cx="4206240" cy="274320"/>
          </a:xfrm>
          <a:prstGeom prst="rect">
            <a:avLst/>
          </a:prstGeom>
          <a:noFill/>
        </p:spPr>
        <p:txBody>
          <a:bodyPr wrap="square">
            <a:spAutoFit/>
          </a:bodyPr>
          <a:lstStyle/>
          <a:p>
            <a:pPr algn="l"/>
            <a:r>
              <a:rPr sz="1100" b="1" i="0">
                <a:solidFill>
                  <a:srgbClr val="FF49E2"/>
                </a:solidFill>
                <a:latin typeface="Inter"/>
              </a:rPr>
              <a:t>Claude Code</a:t>
            </a:r>
          </a:p>
        </p:txBody>
      </p:sp>
      <p:sp>
        <p:nvSpPr>
          <p:cNvPr id="16" name="TextBox 15"/>
          <p:cNvSpPr txBox="1"/>
          <p:nvPr/>
        </p:nvSpPr>
        <p:spPr>
          <a:xfrm>
            <a:off x="6949440" y="3163824"/>
            <a:ext cx="4206240" cy="320040"/>
          </a:xfrm>
          <a:prstGeom prst="rect">
            <a:avLst/>
          </a:prstGeom>
          <a:noFill/>
        </p:spPr>
        <p:txBody>
          <a:bodyPr wrap="square">
            <a:spAutoFit/>
          </a:bodyPr>
          <a:lstStyle/>
          <a:p>
            <a:pPr algn="l"/>
            <a:r>
              <a:rPr sz="1200" b="0" i="0">
                <a:solidFill>
                  <a:srgbClr val="FFFFFF"/>
                </a:solidFill>
                <a:latin typeface="Inter Light"/>
              </a:rPr>
              <a:t>Task complete. 6 files modified.</a:t>
            </a:r>
          </a:p>
        </p:txBody>
      </p:sp>
      <p:sp>
        <p:nvSpPr>
          <p:cNvPr id="17" name="Rounded Rectangle 16"/>
          <p:cNvSpPr/>
          <p:nvPr/>
        </p:nvSpPr>
        <p:spPr>
          <a:xfrm>
            <a:off x="6720840" y="3749039"/>
            <a:ext cx="4754880" cy="640080"/>
          </a:xfrm>
          <a:prstGeom prst="roundRect">
            <a:avLst>
              <a:gd name="adj" fmla="val 6000"/>
            </a:avLst>
          </a:prstGeom>
          <a:solidFill>
            <a:srgbClr val="2A0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49440" y="3840480"/>
            <a:ext cx="4206240" cy="411480"/>
          </a:xfrm>
          <a:prstGeom prst="rect">
            <a:avLst/>
          </a:prstGeom>
          <a:noFill/>
        </p:spPr>
        <p:txBody>
          <a:bodyPr wrap="square">
            <a:spAutoFit/>
          </a:bodyPr>
          <a:lstStyle/>
          <a:p>
            <a:pPr algn="l"/>
            <a:r>
              <a:rPr sz="1100" b="0" i="0">
                <a:solidFill>
                  <a:srgbClr val="EFEBE6"/>
                </a:solidFill>
                <a:latin typeface="Courier New"/>
              </a:rPr>
              <a:t>Stop event  -&gt;  OS notification API</a:t>
            </a:r>
          </a:p>
        </p:txBody>
      </p:sp>
      <p:sp>
        <p:nvSpPr>
          <p:cNvPr id="19" name="Rounded Rectangle 18"/>
          <p:cNvSpPr/>
          <p:nvPr/>
        </p:nvSpPr>
        <p:spPr>
          <a:xfrm>
            <a:off x="411480" y="4956048"/>
            <a:ext cx="11338560" cy="1572768"/>
          </a:xfrm>
          <a:prstGeom prst="roundRect">
            <a:avLst>
              <a:gd name="adj" fmla="val 7000"/>
            </a:avLst>
          </a:prstGeom>
          <a:solidFill>
            <a:srgbClr val="FF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5102352"/>
            <a:ext cx="1828800" cy="347472"/>
          </a:xfrm>
          <a:prstGeom prst="rect">
            <a:avLst/>
          </a:prstGeom>
          <a:noFill/>
        </p:spPr>
        <p:txBody>
          <a:bodyPr wrap="square">
            <a:spAutoFit/>
          </a:bodyPr>
          <a:lstStyle/>
          <a:p>
            <a:pPr algn="l"/>
            <a:r>
              <a:rPr sz="1100" b="1" i="0">
                <a:solidFill>
                  <a:srgbClr val="FFFFFF"/>
                </a:solidFill>
                <a:latin typeface="Inter"/>
              </a:rPr>
              <a:t>KEY INSIGHT</a:t>
            </a:r>
          </a:p>
        </p:txBody>
      </p:sp>
      <p:sp>
        <p:nvSpPr>
          <p:cNvPr id="21" name="TextBox 20"/>
          <p:cNvSpPr txBox="1"/>
          <p:nvPr/>
        </p:nvSpPr>
        <p:spPr>
          <a:xfrm>
            <a:off x="2743200" y="5074920"/>
            <a:ext cx="8686800" cy="502920"/>
          </a:xfrm>
          <a:prstGeom prst="rect">
            <a:avLst/>
          </a:prstGeom>
          <a:noFill/>
        </p:spPr>
        <p:txBody>
          <a:bodyPr wrap="square">
            <a:spAutoFit/>
          </a:bodyPr>
          <a:lstStyle/>
          <a:p>
            <a:pPr algn="l"/>
            <a:r>
              <a:rPr sz="1900" b="0" i="1">
                <a:solidFill>
                  <a:srgbClr val="FFFFFF"/>
                </a:solidFill>
                <a:latin typeface="Inter Light"/>
              </a:rPr>
              <a:t>The notification fires at the runtime layer. Claude cannot suppress it.</a:t>
            </a:r>
          </a:p>
        </p:txBody>
      </p:sp>
      <p:sp>
        <p:nvSpPr>
          <p:cNvPr id="22" name="TextBox 21"/>
          <p:cNvSpPr txBox="1"/>
          <p:nvPr/>
        </p:nvSpPr>
        <p:spPr>
          <a:xfrm>
            <a:off x="2743200" y="5577840"/>
            <a:ext cx="8686800" cy="502920"/>
          </a:xfrm>
          <a:prstGeom prst="rect">
            <a:avLst/>
          </a:prstGeom>
          <a:noFill/>
        </p:spPr>
        <p:txBody>
          <a:bodyPr wrap="square">
            <a:spAutoFit/>
          </a:bodyPr>
          <a:lstStyle/>
          <a:p>
            <a:pPr algn="l"/>
            <a:r>
              <a:rPr sz="1400" b="0" i="0">
                <a:solidFill>
                  <a:srgbClr val="FFFFFF"/>
                </a:solidFill>
                <a:latin typeface="Inter Light"/>
              </a:rPr>
              <a:t>Long-running agentic tasks do not require you to babysit the terminal.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MaxContact_M_Icon_Free.png"/>
          <p:cNvPicPr>
            <a:picLocks noChangeAspect="1"/>
          </p:cNvPicPr>
          <p:nvPr/>
        </p:nvPicPr>
        <p:blipFill>
          <a:blip r:embed="rId3"/>
          <a:stretch>
            <a:fillRect/>
          </a:stretch>
        </p:blipFill>
        <p:spPr>
          <a:xfrm>
            <a:off x="502920" y="256032"/>
            <a:ext cx="457200" cy="283464"/>
          </a:xfrm>
          <a:prstGeom prst="rect">
            <a:avLst/>
          </a:prstGeom>
        </p:spPr>
      </p:pic>
      <p:sp>
        <p:nvSpPr>
          <p:cNvPr id="3" name="TextBox 2"/>
          <p:cNvSpPr txBox="1"/>
          <p:nvPr/>
        </p:nvSpPr>
        <p:spPr>
          <a:xfrm>
            <a:off x="1097280" y="1051560"/>
            <a:ext cx="10515600" cy="685800"/>
          </a:xfrm>
          <a:prstGeom prst="rect">
            <a:avLst/>
          </a:prstGeom>
          <a:noFill/>
        </p:spPr>
        <p:txBody>
          <a:bodyPr wrap="square">
            <a:spAutoFit/>
          </a:bodyPr>
          <a:lstStyle/>
          <a:p>
            <a:pPr algn="l"/>
            <a:r>
              <a:rPr sz="3400" b="1" i="0">
                <a:solidFill>
                  <a:srgbClr val="3F113A"/>
                </a:solidFill>
                <a:latin typeface="Inter"/>
              </a:rPr>
              <a:t>HOOKS VS ALTERNATIVES</a:t>
            </a:r>
          </a:p>
        </p:txBody>
      </p:sp>
      <p:cxnSp>
        <p:nvCxnSpPr>
          <p:cNvPr id="4" name="Connector 3"/>
          <p:cNvCxnSpPr/>
          <p:nvPr/>
        </p:nvCxnSpPr>
        <p:spPr>
          <a:xfrm>
            <a:off x="1097280" y="1783080"/>
            <a:ext cx="4572000" cy="0"/>
          </a:xfrm>
          <a:prstGeom prst="line">
            <a:avLst/>
          </a:prstGeom>
          <a:ln w="25400">
            <a:solidFill>
              <a:srgbClr val="FF49E2"/>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57200" y="1965960"/>
            <a:ext cx="3291840" cy="502920"/>
          </a:xfrm>
          <a:prstGeom prst="roundRect">
            <a:avLst>
              <a:gd name="adj" fmla="val 10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2075688"/>
            <a:ext cx="2926080" cy="320040"/>
          </a:xfrm>
          <a:prstGeom prst="rect">
            <a:avLst/>
          </a:prstGeom>
          <a:noFill/>
        </p:spPr>
        <p:txBody>
          <a:bodyPr wrap="square">
            <a:spAutoFit/>
          </a:bodyPr>
          <a:lstStyle/>
          <a:p>
            <a:pPr algn="ctr"/>
            <a:r>
              <a:rPr sz="1200" b="1" i="0">
                <a:solidFill>
                  <a:srgbClr val="FFFFFF"/>
                </a:solidFill>
                <a:latin typeface="Inter"/>
              </a:rPr>
              <a:t>APPROACH</a:t>
            </a:r>
          </a:p>
        </p:txBody>
      </p:sp>
      <p:sp>
        <p:nvSpPr>
          <p:cNvPr id="7" name="Rounded Rectangle 6"/>
          <p:cNvSpPr/>
          <p:nvPr/>
        </p:nvSpPr>
        <p:spPr>
          <a:xfrm>
            <a:off x="3813048" y="1965960"/>
            <a:ext cx="2194560" cy="502920"/>
          </a:xfrm>
          <a:prstGeom prst="roundRect">
            <a:avLst>
              <a:gd name="adj" fmla="val 10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995928" y="2075688"/>
            <a:ext cx="1828800" cy="320040"/>
          </a:xfrm>
          <a:prstGeom prst="rect">
            <a:avLst/>
          </a:prstGeom>
          <a:noFill/>
        </p:spPr>
        <p:txBody>
          <a:bodyPr wrap="square">
            <a:spAutoFit/>
          </a:bodyPr>
          <a:lstStyle/>
          <a:p>
            <a:pPr algn="ctr"/>
            <a:r>
              <a:rPr sz="1200" b="1" i="0">
                <a:solidFill>
                  <a:srgbClr val="FFFFFF"/>
                </a:solidFill>
                <a:latin typeface="Inter"/>
              </a:rPr>
              <a:t>RELIABLE?</a:t>
            </a:r>
          </a:p>
        </p:txBody>
      </p:sp>
      <p:sp>
        <p:nvSpPr>
          <p:cNvPr id="9" name="Rounded Rectangle 8"/>
          <p:cNvSpPr/>
          <p:nvPr/>
        </p:nvSpPr>
        <p:spPr>
          <a:xfrm>
            <a:off x="6071616" y="1965960"/>
            <a:ext cx="2560320" cy="502920"/>
          </a:xfrm>
          <a:prstGeom prst="roundRect">
            <a:avLst>
              <a:gd name="adj" fmla="val 10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54496" y="2075688"/>
            <a:ext cx="2194560" cy="320040"/>
          </a:xfrm>
          <a:prstGeom prst="rect">
            <a:avLst/>
          </a:prstGeom>
          <a:noFill/>
        </p:spPr>
        <p:txBody>
          <a:bodyPr wrap="square">
            <a:spAutoFit/>
          </a:bodyPr>
          <a:lstStyle/>
          <a:p>
            <a:pPr algn="ctr"/>
            <a:r>
              <a:rPr sz="1200" b="1" i="0">
                <a:solidFill>
                  <a:srgbClr val="FFFFFF"/>
                </a:solidFill>
                <a:latin typeface="Inter"/>
              </a:rPr>
              <a:t>AI CAN BYPASS?</a:t>
            </a:r>
          </a:p>
        </p:txBody>
      </p:sp>
      <p:sp>
        <p:nvSpPr>
          <p:cNvPr id="11" name="Rounded Rectangle 10"/>
          <p:cNvSpPr/>
          <p:nvPr/>
        </p:nvSpPr>
        <p:spPr>
          <a:xfrm>
            <a:off x="8695944" y="1965960"/>
            <a:ext cx="2560320" cy="502920"/>
          </a:xfrm>
          <a:prstGeom prst="roundRect">
            <a:avLst>
              <a:gd name="adj" fmla="val 10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878824" y="2075688"/>
            <a:ext cx="2194560" cy="320040"/>
          </a:xfrm>
          <a:prstGeom prst="rect">
            <a:avLst/>
          </a:prstGeom>
          <a:noFill/>
        </p:spPr>
        <p:txBody>
          <a:bodyPr wrap="square">
            <a:spAutoFit/>
          </a:bodyPr>
          <a:lstStyle/>
          <a:p>
            <a:pPr algn="ctr"/>
            <a:r>
              <a:rPr sz="1200" b="1" i="0">
                <a:solidFill>
                  <a:srgbClr val="FFFFFF"/>
                </a:solidFill>
                <a:latin typeface="Inter"/>
              </a:rPr>
              <a:t>REQUIRES MODEL?</a:t>
            </a:r>
          </a:p>
        </p:txBody>
      </p:sp>
      <p:sp>
        <p:nvSpPr>
          <p:cNvPr id="13" name="Rounded Rectangle 12"/>
          <p:cNvSpPr/>
          <p:nvPr/>
        </p:nvSpPr>
        <p:spPr>
          <a:xfrm>
            <a:off x="457200" y="2560320"/>
            <a:ext cx="3291840" cy="1005840"/>
          </a:xfrm>
          <a:prstGeom prst="roundRect">
            <a:avLst>
              <a:gd name="adj" fmla="val 8000"/>
            </a:avLst>
          </a:prstGeom>
          <a:solidFill>
            <a:srgbClr val="EF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834640"/>
            <a:ext cx="2926080" cy="457200"/>
          </a:xfrm>
          <a:prstGeom prst="rect">
            <a:avLst/>
          </a:prstGeom>
          <a:noFill/>
        </p:spPr>
        <p:txBody>
          <a:bodyPr wrap="square">
            <a:spAutoFit/>
          </a:bodyPr>
          <a:lstStyle/>
          <a:p>
            <a:pPr algn="ctr"/>
            <a:r>
              <a:rPr sz="1400" b="0" i="0">
                <a:solidFill>
                  <a:srgbClr val="3F113A"/>
                </a:solidFill>
                <a:latin typeface="Inter"/>
              </a:rPr>
              <a:t>System prompt rules</a:t>
            </a:r>
          </a:p>
        </p:txBody>
      </p:sp>
      <p:sp>
        <p:nvSpPr>
          <p:cNvPr id="15" name="Rounded Rectangle 14"/>
          <p:cNvSpPr/>
          <p:nvPr/>
        </p:nvSpPr>
        <p:spPr>
          <a:xfrm>
            <a:off x="3813048" y="2560320"/>
            <a:ext cx="2194560" cy="1005840"/>
          </a:xfrm>
          <a:prstGeom prst="roundRect">
            <a:avLst>
              <a:gd name="adj" fmla="val 8000"/>
            </a:avLst>
          </a:prstGeom>
          <a:solidFill>
            <a:srgbClr val="EF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995928" y="2834640"/>
            <a:ext cx="1828800" cy="457200"/>
          </a:xfrm>
          <a:prstGeom prst="rect">
            <a:avLst/>
          </a:prstGeom>
          <a:noFill/>
        </p:spPr>
        <p:txBody>
          <a:bodyPr wrap="square">
            <a:spAutoFit/>
          </a:bodyPr>
          <a:lstStyle/>
          <a:p>
            <a:pPr algn="ctr"/>
            <a:r>
              <a:rPr sz="1400" b="0" i="0">
                <a:solidFill>
                  <a:srgbClr val="3F113A"/>
                </a:solidFill>
                <a:latin typeface="Inter Light"/>
              </a:rPr>
              <a:t>Sometimes</a:t>
            </a:r>
          </a:p>
        </p:txBody>
      </p:sp>
      <p:sp>
        <p:nvSpPr>
          <p:cNvPr id="17" name="Rounded Rectangle 16"/>
          <p:cNvSpPr/>
          <p:nvPr/>
        </p:nvSpPr>
        <p:spPr>
          <a:xfrm>
            <a:off x="6071616" y="2560320"/>
            <a:ext cx="2560320" cy="1005840"/>
          </a:xfrm>
          <a:prstGeom prst="roundRect">
            <a:avLst>
              <a:gd name="adj" fmla="val 8000"/>
            </a:avLst>
          </a:prstGeom>
          <a:solidFill>
            <a:srgbClr val="EF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54496" y="2834640"/>
            <a:ext cx="2194560" cy="457200"/>
          </a:xfrm>
          <a:prstGeom prst="rect">
            <a:avLst/>
          </a:prstGeom>
          <a:noFill/>
        </p:spPr>
        <p:txBody>
          <a:bodyPr wrap="square">
            <a:spAutoFit/>
          </a:bodyPr>
          <a:lstStyle/>
          <a:p>
            <a:pPr algn="ctr"/>
            <a:r>
              <a:rPr sz="1400" b="0" i="0">
                <a:solidFill>
                  <a:srgbClr val="C02020"/>
                </a:solidFill>
                <a:latin typeface="Inter Light"/>
              </a:rPr>
              <a:t>Yes</a:t>
            </a:r>
          </a:p>
        </p:txBody>
      </p:sp>
      <p:sp>
        <p:nvSpPr>
          <p:cNvPr id="19" name="Rounded Rectangle 18"/>
          <p:cNvSpPr/>
          <p:nvPr/>
        </p:nvSpPr>
        <p:spPr>
          <a:xfrm>
            <a:off x="8695944" y="2560320"/>
            <a:ext cx="2560320" cy="1005840"/>
          </a:xfrm>
          <a:prstGeom prst="roundRect">
            <a:avLst>
              <a:gd name="adj" fmla="val 8000"/>
            </a:avLst>
          </a:prstGeom>
          <a:solidFill>
            <a:srgbClr val="EF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878824" y="2834640"/>
            <a:ext cx="2194560" cy="457200"/>
          </a:xfrm>
          <a:prstGeom prst="rect">
            <a:avLst/>
          </a:prstGeom>
          <a:noFill/>
        </p:spPr>
        <p:txBody>
          <a:bodyPr wrap="square">
            <a:spAutoFit/>
          </a:bodyPr>
          <a:lstStyle/>
          <a:p>
            <a:pPr algn="ctr"/>
            <a:r>
              <a:rPr sz="1400" b="0" i="0">
                <a:solidFill>
                  <a:srgbClr val="C02020"/>
                </a:solidFill>
                <a:latin typeface="Inter Light"/>
              </a:rPr>
              <a:t>Yes</a:t>
            </a:r>
          </a:p>
        </p:txBody>
      </p:sp>
      <p:sp>
        <p:nvSpPr>
          <p:cNvPr id="21" name="Rounded Rectangle 20"/>
          <p:cNvSpPr/>
          <p:nvPr/>
        </p:nvSpPr>
        <p:spPr>
          <a:xfrm>
            <a:off x="457200" y="3657600"/>
            <a:ext cx="3291840" cy="1005840"/>
          </a:xfrm>
          <a:prstGeom prst="roundRect">
            <a:avLst>
              <a:gd name="adj" fmla="val 8000"/>
            </a:avLst>
          </a:prstGeom>
          <a:solidFill>
            <a:srgbClr val="EF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3931920"/>
            <a:ext cx="2926080" cy="457200"/>
          </a:xfrm>
          <a:prstGeom prst="rect">
            <a:avLst/>
          </a:prstGeom>
          <a:noFill/>
        </p:spPr>
        <p:txBody>
          <a:bodyPr wrap="square">
            <a:spAutoFit/>
          </a:bodyPr>
          <a:lstStyle/>
          <a:p>
            <a:pPr algn="ctr"/>
            <a:r>
              <a:rPr sz="1400" b="0" i="0">
                <a:solidFill>
                  <a:srgbClr val="3F113A"/>
                </a:solidFill>
                <a:latin typeface="Inter"/>
              </a:rPr>
              <a:t>Code review</a:t>
            </a:r>
          </a:p>
        </p:txBody>
      </p:sp>
      <p:sp>
        <p:nvSpPr>
          <p:cNvPr id="23" name="Rounded Rectangle 22"/>
          <p:cNvSpPr/>
          <p:nvPr/>
        </p:nvSpPr>
        <p:spPr>
          <a:xfrm>
            <a:off x="3813048" y="3657600"/>
            <a:ext cx="2194560" cy="1005840"/>
          </a:xfrm>
          <a:prstGeom prst="roundRect">
            <a:avLst>
              <a:gd name="adj" fmla="val 8000"/>
            </a:avLst>
          </a:prstGeom>
          <a:solidFill>
            <a:srgbClr val="EF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995928" y="3931920"/>
            <a:ext cx="1828800" cy="457200"/>
          </a:xfrm>
          <a:prstGeom prst="rect">
            <a:avLst/>
          </a:prstGeom>
          <a:noFill/>
        </p:spPr>
        <p:txBody>
          <a:bodyPr wrap="square">
            <a:spAutoFit/>
          </a:bodyPr>
          <a:lstStyle/>
          <a:p>
            <a:pPr algn="ctr"/>
            <a:r>
              <a:rPr sz="1400" b="0" i="0">
                <a:solidFill>
                  <a:srgbClr val="3F113A"/>
                </a:solidFill>
                <a:latin typeface="Inter Light"/>
              </a:rPr>
              <a:t>After the fact</a:t>
            </a:r>
          </a:p>
        </p:txBody>
      </p:sp>
      <p:sp>
        <p:nvSpPr>
          <p:cNvPr id="25" name="Rounded Rectangle 24"/>
          <p:cNvSpPr/>
          <p:nvPr/>
        </p:nvSpPr>
        <p:spPr>
          <a:xfrm>
            <a:off x="6071616" y="3657600"/>
            <a:ext cx="2560320" cy="1005840"/>
          </a:xfrm>
          <a:prstGeom prst="roundRect">
            <a:avLst>
              <a:gd name="adj" fmla="val 8000"/>
            </a:avLst>
          </a:prstGeom>
          <a:solidFill>
            <a:srgbClr val="EF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54496" y="3931920"/>
            <a:ext cx="2194560" cy="457200"/>
          </a:xfrm>
          <a:prstGeom prst="rect">
            <a:avLst/>
          </a:prstGeom>
          <a:noFill/>
        </p:spPr>
        <p:txBody>
          <a:bodyPr wrap="square">
            <a:spAutoFit/>
          </a:bodyPr>
          <a:lstStyle/>
          <a:p>
            <a:pPr algn="ctr"/>
            <a:r>
              <a:rPr sz="1400" b="0" i="0">
                <a:solidFill>
                  <a:srgbClr val="3F113A"/>
                </a:solidFill>
                <a:latin typeface="Inter Light"/>
              </a:rPr>
              <a:t>N/A</a:t>
            </a:r>
          </a:p>
        </p:txBody>
      </p:sp>
      <p:sp>
        <p:nvSpPr>
          <p:cNvPr id="27" name="Rounded Rectangle 26"/>
          <p:cNvSpPr/>
          <p:nvPr/>
        </p:nvSpPr>
        <p:spPr>
          <a:xfrm>
            <a:off x="8695944" y="3657600"/>
            <a:ext cx="2560320" cy="1005840"/>
          </a:xfrm>
          <a:prstGeom prst="roundRect">
            <a:avLst>
              <a:gd name="adj" fmla="val 8000"/>
            </a:avLst>
          </a:prstGeom>
          <a:solidFill>
            <a:srgbClr val="EF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878824" y="3931920"/>
            <a:ext cx="2194560" cy="457200"/>
          </a:xfrm>
          <a:prstGeom prst="rect">
            <a:avLst/>
          </a:prstGeom>
          <a:noFill/>
        </p:spPr>
        <p:txBody>
          <a:bodyPr wrap="square">
            <a:spAutoFit/>
          </a:bodyPr>
          <a:lstStyle/>
          <a:p>
            <a:pPr algn="ctr"/>
            <a:r>
              <a:rPr sz="1400" b="0" i="0">
                <a:solidFill>
                  <a:srgbClr val="3F113A"/>
                </a:solidFill>
                <a:latin typeface="Inter Light"/>
              </a:rPr>
              <a:t>No</a:t>
            </a:r>
          </a:p>
        </p:txBody>
      </p:sp>
      <p:sp>
        <p:nvSpPr>
          <p:cNvPr id="29" name="Rounded Rectangle 28"/>
          <p:cNvSpPr/>
          <p:nvPr/>
        </p:nvSpPr>
        <p:spPr>
          <a:xfrm>
            <a:off x="457200" y="4754880"/>
            <a:ext cx="3291840" cy="1005840"/>
          </a:xfrm>
          <a:prstGeom prst="roundRect">
            <a:avLst>
              <a:gd name="adj" fmla="val 8000"/>
            </a:avLst>
          </a:prstGeom>
          <a:solidFill>
            <a:srgbClr val="FF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 y="5029200"/>
            <a:ext cx="2926080" cy="457200"/>
          </a:xfrm>
          <a:prstGeom prst="rect">
            <a:avLst/>
          </a:prstGeom>
          <a:noFill/>
        </p:spPr>
        <p:txBody>
          <a:bodyPr wrap="square">
            <a:spAutoFit/>
          </a:bodyPr>
          <a:lstStyle/>
          <a:p>
            <a:pPr algn="ctr"/>
            <a:r>
              <a:rPr sz="1600" b="1" i="0">
                <a:solidFill>
                  <a:srgbClr val="FFFFFF"/>
                </a:solidFill>
                <a:latin typeface="Inter"/>
              </a:rPr>
              <a:t>AI Hooks</a:t>
            </a:r>
          </a:p>
        </p:txBody>
      </p:sp>
      <p:sp>
        <p:nvSpPr>
          <p:cNvPr id="31" name="Rounded Rectangle 30"/>
          <p:cNvSpPr/>
          <p:nvPr/>
        </p:nvSpPr>
        <p:spPr>
          <a:xfrm>
            <a:off x="3813048" y="4754880"/>
            <a:ext cx="2194560" cy="1005840"/>
          </a:xfrm>
          <a:prstGeom prst="roundRect">
            <a:avLst>
              <a:gd name="adj" fmla="val 8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995928" y="5029200"/>
            <a:ext cx="1828800" cy="457200"/>
          </a:xfrm>
          <a:prstGeom prst="rect">
            <a:avLst/>
          </a:prstGeom>
          <a:noFill/>
        </p:spPr>
        <p:txBody>
          <a:bodyPr wrap="square">
            <a:spAutoFit/>
          </a:bodyPr>
          <a:lstStyle/>
          <a:p>
            <a:pPr algn="ctr"/>
            <a:r>
              <a:rPr sz="1600" b="1" i="0">
                <a:solidFill>
                  <a:srgbClr val="FFFFFF"/>
                </a:solidFill>
                <a:latin typeface="Inter Light"/>
              </a:rPr>
              <a:t>Always</a:t>
            </a:r>
          </a:p>
        </p:txBody>
      </p:sp>
      <p:sp>
        <p:nvSpPr>
          <p:cNvPr id="33" name="Rounded Rectangle 32"/>
          <p:cNvSpPr/>
          <p:nvPr/>
        </p:nvSpPr>
        <p:spPr>
          <a:xfrm>
            <a:off x="6071616" y="4754880"/>
            <a:ext cx="2560320" cy="1005840"/>
          </a:xfrm>
          <a:prstGeom prst="roundRect">
            <a:avLst>
              <a:gd name="adj" fmla="val 8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54496" y="5029200"/>
            <a:ext cx="2194560" cy="457200"/>
          </a:xfrm>
          <a:prstGeom prst="rect">
            <a:avLst/>
          </a:prstGeom>
          <a:noFill/>
        </p:spPr>
        <p:txBody>
          <a:bodyPr wrap="square">
            <a:spAutoFit/>
          </a:bodyPr>
          <a:lstStyle/>
          <a:p>
            <a:pPr algn="ctr"/>
            <a:r>
              <a:rPr sz="1600" b="1" i="0">
                <a:solidFill>
                  <a:srgbClr val="FFFFFF"/>
                </a:solidFill>
                <a:latin typeface="Inter Light"/>
              </a:rPr>
              <a:t>No</a:t>
            </a:r>
          </a:p>
        </p:txBody>
      </p:sp>
      <p:sp>
        <p:nvSpPr>
          <p:cNvPr id="35" name="Rounded Rectangle 34"/>
          <p:cNvSpPr/>
          <p:nvPr/>
        </p:nvSpPr>
        <p:spPr>
          <a:xfrm>
            <a:off x="8695944" y="4754880"/>
            <a:ext cx="2560320" cy="1005840"/>
          </a:xfrm>
          <a:prstGeom prst="roundRect">
            <a:avLst>
              <a:gd name="adj" fmla="val 8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878824" y="5029200"/>
            <a:ext cx="2194560" cy="457200"/>
          </a:xfrm>
          <a:prstGeom prst="rect">
            <a:avLst/>
          </a:prstGeom>
          <a:noFill/>
        </p:spPr>
        <p:txBody>
          <a:bodyPr wrap="square">
            <a:spAutoFit/>
          </a:bodyPr>
          <a:lstStyle/>
          <a:p>
            <a:pPr algn="ctr"/>
            <a:r>
              <a:rPr sz="1600" b="1" i="0">
                <a:solidFill>
                  <a:srgbClr val="FFFFFF"/>
                </a:solidFill>
                <a:latin typeface="Inter Light"/>
              </a:rPr>
              <a:t>No</a:t>
            </a:r>
          </a:p>
        </p:txBody>
      </p:sp>
      <p:sp>
        <p:nvSpPr>
          <p:cNvPr id="37" name="TextBox 36"/>
          <p:cNvSpPr txBox="1"/>
          <p:nvPr/>
        </p:nvSpPr>
        <p:spPr>
          <a:xfrm>
            <a:off x="457200" y="6080760"/>
            <a:ext cx="11247120" cy="502920"/>
          </a:xfrm>
          <a:prstGeom prst="rect">
            <a:avLst/>
          </a:prstGeom>
          <a:noFill/>
        </p:spPr>
        <p:txBody>
          <a:bodyPr wrap="square">
            <a:spAutoFit/>
          </a:bodyPr>
          <a:lstStyle/>
          <a:p>
            <a:pPr algn="l"/>
            <a:r>
              <a:rPr sz="1400" b="0" i="1">
                <a:solidFill>
                  <a:srgbClr val="6F4169"/>
                </a:solidFill>
                <a:latin typeface="Inter Light"/>
              </a:rPr>
              <a:t>Hooks run outside the model's context. They cannot be argued with, prompted around, or forgotten.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FEBE6"/>
        </a:solidFill>
        <a:effectLst/>
      </p:bgPr>
    </p:bg>
    <p:spTree>
      <p:nvGrpSpPr>
        <p:cNvPr id="1" name=""/>
        <p:cNvGrpSpPr/>
        <p:nvPr/>
      </p:nvGrpSpPr>
      <p:grpSpPr>
        <a:xfrm>
          <a:off x="0" y="0"/>
          <a:ext cx="0" cy="0"/>
          <a:chOff x="0" y="0"/>
          <a:chExt cx="0" cy="0"/>
        </a:xfrm>
      </p:grpSpPr>
      <p:pic>
        <p:nvPicPr>
          <p:cNvPr id="2" name="Picture 1" descr="MaxContact_M_Icon_Free.png"/>
          <p:cNvPicPr>
            <a:picLocks noChangeAspect="1"/>
          </p:cNvPicPr>
          <p:nvPr/>
        </p:nvPicPr>
        <p:blipFill>
          <a:blip r:embed="rId3"/>
          <a:stretch>
            <a:fillRect/>
          </a:stretch>
        </p:blipFill>
        <p:spPr>
          <a:xfrm>
            <a:off x="502920" y="256032"/>
            <a:ext cx="457200" cy="283464"/>
          </a:xfrm>
          <a:prstGeom prst="rect">
            <a:avLst/>
          </a:prstGeom>
        </p:spPr>
      </p:pic>
      <p:sp>
        <p:nvSpPr>
          <p:cNvPr id="3" name="TextBox 2"/>
          <p:cNvSpPr txBox="1"/>
          <p:nvPr/>
        </p:nvSpPr>
        <p:spPr>
          <a:xfrm>
            <a:off x="1097280" y="1051560"/>
            <a:ext cx="10515600" cy="685800"/>
          </a:xfrm>
          <a:prstGeom prst="rect">
            <a:avLst/>
          </a:prstGeom>
          <a:noFill/>
        </p:spPr>
        <p:txBody>
          <a:bodyPr wrap="square">
            <a:spAutoFit/>
          </a:bodyPr>
          <a:lstStyle/>
          <a:p>
            <a:pPr algn="l"/>
            <a:r>
              <a:rPr sz="3400" b="1" i="0">
                <a:solidFill>
                  <a:srgbClr val="3F113A"/>
                </a:solidFill>
                <a:latin typeface="Inter"/>
              </a:rPr>
              <a:t>GET STARTED IN THREE FILES</a:t>
            </a:r>
          </a:p>
        </p:txBody>
      </p:sp>
      <p:cxnSp>
        <p:nvCxnSpPr>
          <p:cNvPr id="4" name="Connector 3"/>
          <p:cNvCxnSpPr/>
          <p:nvPr/>
        </p:nvCxnSpPr>
        <p:spPr>
          <a:xfrm>
            <a:off x="1097280" y="1783080"/>
            <a:ext cx="4572000" cy="0"/>
          </a:xfrm>
          <a:prstGeom prst="line">
            <a:avLst/>
          </a:prstGeom>
          <a:ln w="25400">
            <a:solidFill>
              <a:srgbClr val="FF49E2"/>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11480" y="1920240"/>
            <a:ext cx="3657600" cy="384048"/>
          </a:xfrm>
          <a:prstGeom prst="roundRect">
            <a:avLst>
              <a:gd name="adj" fmla="val 45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984248"/>
            <a:ext cx="3383280" cy="292607"/>
          </a:xfrm>
          <a:prstGeom prst="rect">
            <a:avLst/>
          </a:prstGeom>
          <a:noFill/>
        </p:spPr>
        <p:txBody>
          <a:bodyPr wrap="square">
            <a:spAutoFit/>
          </a:bodyPr>
          <a:lstStyle/>
          <a:p>
            <a:pPr algn="ctr"/>
            <a:r>
              <a:rPr sz="1100" b="1" i="0">
                <a:solidFill>
                  <a:srgbClr val="FFFFFF"/>
                </a:solidFill>
                <a:latin typeface="Inter"/>
              </a:rPr>
              <a:t>1  GitHub Copilot</a:t>
            </a:r>
          </a:p>
        </p:txBody>
      </p:sp>
      <p:sp>
        <p:nvSpPr>
          <p:cNvPr id="7" name="Rounded Rectangle 6"/>
          <p:cNvSpPr/>
          <p:nvPr/>
        </p:nvSpPr>
        <p:spPr>
          <a:xfrm>
            <a:off x="411480" y="2377440"/>
            <a:ext cx="3657600" cy="347472"/>
          </a:xfrm>
          <a:prstGeom prst="roundRect">
            <a:avLst>
              <a:gd name="adj" fmla="val 8000"/>
            </a:avLst>
          </a:prstGeom>
          <a:solidFill>
            <a:srgbClr val="D8E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2432304"/>
            <a:ext cx="3383280" cy="256032"/>
          </a:xfrm>
          <a:prstGeom prst="rect">
            <a:avLst/>
          </a:prstGeom>
          <a:noFill/>
        </p:spPr>
        <p:txBody>
          <a:bodyPr wrap="square">
            <a:spAutoFit/>
          </a:bodyPr>
          <a:lstStyle/>
          <a:p>
            <a:pPr algn="ctr"/>
            <a:r>
              <a:rPr sz="1000" b="0" i="0">
                <a:solidFill>
                  <a:srgbClr val="3F113A"/>
                </a:solidFill>
                <a:latin typeface="Courier New"/>
              </a:rPr>
              <a:t>.github/hooks/security-guard.json</a:t>
            </a:r>
          </a:p>
        </p:txBody>
      </p:sp>
      <p:sp>
        <p:nvSpPr>
          <p:cNvPr id="9" name="Rounded Rectangle 8"/>
          <p:cNvSpPr/>
          <p:nvPr/>
        </p:nvSpPr>
        <p:spPr>
          <a:xfrm>
            <a:off x="411480" y="2807208"/>
            <a:ext cx="3657600" cy="2587752"/>
          </a:xfrm>
          <a:prstGeom prst="roundRect">
            <a:avLst>
              <a:gd name="adj" fmla="val 6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2990088"/>
            <a:ext cx="3200400" cy="2130552"/>
          </a:xfrm>
          <a:prstGeom prst="rect">
            <a:avLst/>
          </a:prstGeom>
          <a:noFill/>
        </p:spPr>
        <p:txBody>
          <a:bodyPr wrap="none">
            <a:spAutoFit/>
          </a:bodyPr>
          <a:lstStyle/>
          <a:p>
            <a:r>
              <a:rPr sz="1100">
                <a:solidFill>
                  <a:srgbClr val="FFFFFF"/>
                </a:solidFill>
                <a:latin typeface="Courier New"/>
              </a:rPr>
              <a:t>{</a:t>
            </a:r>
          </a:p>
          <a:p>
            <a:r>
              <a:rPr sz="1100">
                <a:solidFill>
                  <a:srgbClr val="FFFFFF"/>
                </a:solidFill>
                <a:latin typeface="Courier New"/>
              </a:rPr>
              <a:t>  "trigger": "PreToolUse",</a:t>
            </a:r>
          </a:p>
          <a:p>
            <a:r>
              <a:rPr sz="1100">
                <a:solidFill>
                  <a:srgbClr val="FFFFFF"/>
                </a:solidFill>
                <a:latin typeface="Courier New"/>
              </a:rPr>
              <a:t>  "script": "scripts/security-check.sh"</a:t>
            </a:r>
          </a:p>
          <a:p>
            <a:r>
              <a:rPr sz="1100">
                <a:solidFill>
                  <a:srgbClr val="FFFFFF"/>
                </a:solidFill>
                <a:latin typeface="Courier New"/>
              </a:rPr>
              <a:t>}</a:t>
            </a:r>
          </a:p>
        </p:txBody>
      </p:sp>
      <p:sp>
        <p:nvSpPr>
          <p:cNvPr id="11" name="Rounded Rectangle 10"/>
          <p:cNvSpPr/>
          <p:nvPr/>
        </p:nvSpPr>
        <p:spPr>
          <a:xfrm>
            <a:off x="4343400" y="1920240"/>
            <a:ext cx="3657600" cy="384048"/>
          </a:xfrm>
          <a:prstGeom prst="roundRect">
            <a:avLst>
              <a:gd name="adj" fmla="val 45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80560" y="1984248"/>
            <a:ext cx="3383280" cy="292607"/>
          </a:xfrm>
          <a:prstGeom prst="rect">
            <a:avLst/>
          </a:prstGeom>
          <a:noFill/>
        </p:spPr>
        <p:txBody>
          <a:bodyPr wrap="square">
            <a:spAutoFit/>
          </a:bodyPr>
          <a:lstStyle/>
          <a:p>
            <a:pPr algn="ctr"/>
            <a:r>
              <a:rPr sz="1100" b="1" i="0">
                <a:solidFill>
                  <a:srgbClr val="FFFFFF"/>
                </a:solidFill>
                <a:latin typeface="Inter"/>
              </a:rPr>
              <a:t>2  Claude Code</a:t>
            </a:r>
          </a:p>
        </p:txBody>
      </p:sp>
      <p:sp>
        <p:nvSpPr>
          <p:cNvPr id="13" name="Rounded Rectangle 12"/>
          <p:cNvSpPr/>
          <p:nvPr/>
        </p:nvSpPr>
        <p:spPr>
          <a:xfrm>
            <a:off x="4343400" y="2377440"/>
            <a:ext cx="3657600" cy="347472"/>
          </a:xfrm>
          <a:prstGeom prst="roundRect">
            <a:avLst>
              <a:gd name="adj" fmla="val 8000"/>
            </a:avLst>
          </a:prstGeom>
          <a:solidFill>
            <a:srgbClr val="D8E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80560" y="2432304"/>
            <a:ext cx="3383280" cy="256032"/>
          </a:xfrm>
          <a:prstGeom prst="rect">
            <a:avLst/>
          </a:prstGeom>
          <a:noFill/>
        </p:spPr>
        <p:txBody>
          <a:bodyPr wrap="square">
            <a:spAutoFit/>
          </a:bodyPr>
          <a:lstStyle/>
          <a:p>
            <a:pPr algn="ctr"/>
            <a:r>
              <a:rPr sz="1000" b="0" i="0">
                <a:solidFill>
                  <a:srgbClr val="3F113A"/>
                </a:solidFill>
                <a:latin typeface="Courier New"/>
              </a:rPr>
              <a:t>.claude/settings.json</a:t>
            </a:r>
          </a:p>
        </p:txBody>
      </p:sp>
      <p:sp>
        <p:nvSpPr>
          <p:cNvPr id="15" name="Rounded Rectangle 14"/>
          <p:cNvSpPr/>
          <p:nvPr/>
        </p:nvSpPr>
        <p:spPr>
          <a:xfrm>
            <a:off x="4343400" y="2807208"/>
            <a:ext cx="3657600" cy="2587752"/>
          </a:xfrm>
          <a:prstGeom prst="roundRect">
            <a:avLst>
              <a:gd name="adj" fmla="val 6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0" y="2990088"/>
            <a:ext cx="3200400" cy="2130552"/>
          </a:xfrm>
          <a:prstGeom prst="rect">
            <a:avLst/>
          </a:prstGeom>
          <a:noFill/>
        </p:spPr>
        <p:txBody>
          <a:bodyPr wrap="none">
            <a:spAutoFit/>
          </a:bodyPr>
          <a:lstStyle/>
          <a:p>
            <a:r>
              <a:rPr sz="1100">
                <a:solidFill>
                  <a:srgbClr val="FFFFFF"/>
                </a:solidFill>
                <a:latin typeface="Courier New"/>
              </a:rPr>
              <a:t>{</a:t>
            </a:r>
          </a:p>
          <a:p>
            <a:r>
              <a:rPr sz="1100">
                <a:solidFill>
                  <a:srgbClr val="FFFFFF"/>
                </a:solidFill>
                <a:latin typeface="Courier New"/>
              </a:rPr>
              <a:t>  "hooks": {</a:t>
            </a:r>
          </a:p>
          <a:p>
            <a:r>
              <a:rPr sz="1100">
                <a:solidFill>
                  <a:srgbClr val="FFFFFF"/>
                </a:solidFill>
                <a:latin typeface="Courier New"/>
              </a:rPr>
              <a:t>    "Stop": [{ "script": "scripts/notify.sh" }],</a:t>
            </a:r>
          </a:p>
          <a:p>
            <a:r>
              <a:rPr sz="1100">
                <a:solidFill>
                  <a:srgbClr val="FFFFFF"/>
                </a:solidFill>
                <a:latin typeface="Courier New"/>
              </a:rPr>
              <a:t>    "UserPromptSubmit": [{ "script": "scripts/inject-context.sh" }]</a:t>
            </a:r>
          </a:p>
          <a:p>
            <a:r>
              <a:rPr sz="1100">
                <a:solidFill>
                  <a:srgbClr val="FFFFFF"/>
                </a:solidFill>
                <a:latin typeface="Courier New"/>
              </a:rPr>
              <a:t>  }</a:t>
            </a:r>
          </a:p>
          <a:p>
            <a:r>
              <a:rPr sz="1100">
                <a:solidFill>
                  <a:srgbClr val="FFFFFF"/>
                </a:solidFill>
                <a:latin typeface="Courier New"/>
              </a:rPr>
              <a:t>}</a:t>
            </a:r>
          </a:p>
        </p:txBody>
      </p:sp>
      <p:sp>
        <p:nvSpPr>
          <p:cNvPr id="17" name="Rounded Rectangle 16"/>
          <p:cNvSpPr/>
          <p:nvPr/>
        </p:nvSpPr>
        <p:spPr>
          <a:xfrm>
            <a:off x="8275319" y="1920240"/>
            <a:ext cx="3657600" cy="384048"/>
          </a:xfrm>
          <a:prstGeom prst="roundRect">
            <a:avLst>
              <a:gd name="adj" fmla="val 45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80" y="1984248"/>
            <a:ext cx="3383280" cy="292607"/>
          </a:xfrm>
          <a:prstGeom prst="rect">
            <a:avLst/>
          </a:prstGeom>
          <a:noFill/>
        </p:spPr>
        <p:txBody>
          <a:bodyPr wrap="square">
            <a:spAutoFit/>
          </a:bodyPr>
          <a:lstStyle/>
          <a:p>
            <a:pPr algn="ctr"/>
            <a:r>
              <a:rPr sz="1100" b="1" i="0">
                <a:solidFill>
                  <a:srgbClr val="FFFFFF"/>
                </a:solidFill>
                <a:latin typeface="Inter"/>
              </a:rPr>
              <a:t>3  Your logic</a:t>
            </a:r>
          </a:p>
        </p:txBody>
      </p:sp>
      <p:sp>
        <p:nvSpPr>
          <p:cNvPr id="19" name="Rounded Rectangle 18"/>
          <p:cNvSpPr/>
          <p:nvPr/>
        </p:nvSpPr>
        <p:spPr>
          <a:xfrm>
            <a:off x="8275319" y="2377440"/>
            <a:ext cx="3657600" cy="347472"/>
          </a:xfrm>
          <a:prstGeom prst="roundRect">
            <a:avLst>
              <a:gd name="adj" fmla="val 8000"/>
            </a:avLst>
          </a:prstGeom>
          <a:solidFill>
            <a:srgbClr val="D8E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12480" y="2432304"/>
            <a:ext cx="3383280" cy="256032"/>
          </a:xfrm>
          <a:prstGeom prst="rect">
            <a:avLst/>
          </a:prstGeom>
          <a:noFill/>
        </p:spPr>
        <p:txBody>
          <a:bodyPr wrap="square">
            <a:spAutoFit/>
          </a:bodyPr>
          <a:lstStyle/>
          <a:p>
            <a:pPr algn="ctr"/>
            <a:r>
              <a:rPr sz="1000" b="0" i="0">
                <a:solidFill>
                  <a:srgbClr val="3F113A"/>
                </a:solidFill>
                <a:latin typeface="Courier New"/>
              </a:rPr>
              <a:t>scripts/security-check.sh</a:t>
            </a:r>
          </a:p>
        </p:txBody>
      </p:sp>
      <p:sp>
        <p:nvSpPr>
          <p:cNvPr id="21" name="Rounded Rectangle 20"/>
          <p:cNvSpPr/>
          <p:nvPr/>
        </p:nvSpPr>
        <p:spPr>
          <a:xfrm>
            <a:off x="8275319" y="2807208"/>
            <a:ext cx="3657600" cy="2587752"/>
          </a:xfrm>
          <a:prstGeom prst="roundRect">
            <a:avLst>
              <a:gd name="adj" fmla="val 6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503919" y="2990088"/>
            <a:ext cx="3200400" cy="2130552"/>
          </a:xfrm>
          <a:prstGeom prst="rect">
            <a:avLst/>
          </a:prstGeom>
          <a:noFill/>
        </p:spPr>
        <p:txBody>
          <a:bodyPr wrap="none">
            <a:spAutoFit/>
          </a:bodyPr>
          <a:lstStyle/>
          <a:p>
            <a:r>
              <a:rPr sz="1100">
                <a:solidFill>
                  <a:srgbClr val="FFFFFF"/>
                </a:solidFill>
                <a:latin typeface="Courier New"/>
              </a:rPr>
              <a:t>#!/bin/bash</a:t>
            </a:r>
          </a:p>
          <a:p>
            <a:r>
              <a:rPr sz="1100">
                <a:solidFill>
                  <a:srgbClr val="FFFFFF"/>
                </a:solidFill>
                <a:latin typeface="Courier New"/>
              </a:rPr>
              <a:t># Read proposed diff from stdin</a:t>
            </a:r>
          </a:p>
          <a:p>
            <a:r>
              <a:rPr sz="1100">
                <a:solidFill>
                  <a:srgbClr val="FFFFFF"/>
                </a:solidFill>
                <a:latin typeface="Courier New"/>
              </a:rPr>
              <a:t># Pattern-match for dangerous strings</a:t>
            </a:r>
          </a:p>
          <a:p>
            <a:r>
              <a:rPr sz="1100">
                <a:solidFill>
                  <a:srgbClr val="FFFFFF"/>
                </a:solidFill>
                <a:latin typeface="Courier New"/>
              </a:rPr>
              <a:t># Exit 1 to deny, exit 0 to allow</a:t>
            </a:r>
          </a:p>
        </p:txBody>
      </p:sp>
      <p:sp>
        <p:nvSpPr>
          <p:cNvPr id="23" name="Rounded Rectangle 22"/>
          <p:cNvSpPr/>
          <p:nvPr/>
        </p:nvSpPr>
        <p:spPr>
          <a:xfrm>
            <a:off x="411480" y="5989320"/>
            <a:ext cx="11338560" cy="594360"/>
          </a:xfrm>
          <a:prstGeom prst="roundRect">
            <a:avLst>
              <a:gd name="adj" fmla="val 8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1520" y="6062472"/>
            <a:ext cx="10515600" cy="411480"/>
          </a:xfrm>
          <a:prstGeom prst="rect">
            <a:avLst/>
          </a:prstGeom>
          <a:noFill/>
        </p:spPr>
        <p:txBody>
          <a:bodyPr wrap="square">
            <a:spAutoFit/>
          </a:bodyPr>
          <a:lstStyle/>
          <a:p>
            <a:pPr algn="ctr"/>
            <a:r>
              <a:rPr sz="1300" b="0" i="0">
                <a:solidFill>
                  <a:srgbClr val="FFFFFF"/>
                </a:solidFill>
                <a:latin typeface="Inter Light"/>
              </a:rPr>
              <a:t>Demo repo:  github.com/your-org/ai-hooks-demo   |   Fork it. All four hooks wired up and ready to go.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sset_5.png"/>
          <p:cNvPicPr>
            <a:picLocks noChangeAspect="1"/>
          </p:cNvPicPr>
          <p:nvPr/>
        </p:nvPicPr>
        <p:blipFill>
          <a:blip r:embed="rId3"/>
          <a:stretch>
            <a:fillRect/>
          </a:stretch>
        </p:blipFill>
        <p:spPr>
          <a:xfrm>
            <a:off x="0" y="0"/>
            <a:ext cx="12191695" cy="6858000"/>
          </a:xfrm>
          <a:prstGeom prst="rect">
            <a:avLst/>
          </a:prstGeom>
        </p:spPr>
      </p:pic>
      <p:pic>
        <p:nvPicPr>
          <p:cNvPr id="3" name="Picture 2" descr="MaxContact_M_Icon_Free.png"/>
          <p:cNvPicPr>
            <a:picLocks noChangeAspect="1"/>
          </p:cNvPicPr>
          <p:nvPr/>
        </p:nvPicPr>
        <p:blipFill>
          <a:blip r:embed="rId4"/>
          <a:stretch>
            <a:fillRect/>
          </a:stretch>
        </p:blipFill>
        <p:spPr>
          <a:xfrm>
            <a:off x="502920" y="256032"/>
            <a:ext cx="457200" cy="283464"/>
          </a:xfrm>
          <a:prstGeom prst="rect">
            <a:avLst/>
          </a:prstGeom>
        </p:spPr>
      </p:pic>
      <p:sp>
        <p:nvSpPr>
          <p:cNvPr id="4" name="TextBox 3"/>
          <p:cNvSpPr txBox="1"/>
          <p:nvPr/>
        </p:nvSpPr>
        <p:spPr>
          <a:xfrm>
            <a:off x="1097280" y="1005840"/>
            <a:ext cx="10515600" cy="685800"/>
          </a:xfrm>
          <a:prstGeom prst="rect">
            <a:avLst/>
          </a:prstGeom>
          <a:noFill/>
        </p:spPr>
        <p:txBody>
          <a:bodyPr wrap="square">
            <a:spAutoFit/>
          </a:bodyPr>
          <a:lstStyle/>
          <a:p>
            <a:pPr algn="l"/>
            <a:r>
              <a:rPr sz="3400" b="1" i="0">
                <a:solidFill>
                  <a:srgbClr val="FFFFFF"/>
                </a:solidFill>
                <a:latin typeface="Inter"/>
              </a:rPr>
              <a:t>KEY TAKEAWAYS</a:t>
            </a:r>
          </a:p>
        </p:txBody>
      </p:sp>
      <p:cxnSp>
        <p:nvCxnSpPr>
          <p:cNvPr id="5" name="Connector 4"/>
          <p:cNvCxnSpPr/>
          <p:nvPr/>
        </p:nvCxnSpPr>
        <p:spPr>
          <a:xfrm>
            <a:off x="1097280" y="1783080"/>
            <a:ext cx="10058400" cy="0"/>
          </a:xfrm>
          <a:prstGeom prst="line">
            <a:avLst/>
          </a:prstGeom>
          <a:ln w="25400">
            <a:solidFill>
              <a:srgbClr val="FF49E2"/>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38912" y="2011680"/>
            <a:ext cx="3611880" cy="4023360"/>
          </a:xfrm>
          <a:prstGeom prst="roundRect">
            <a:avLst>
              <a:gd name="adj" fmla="val 7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58952" y="2331720"/>
            <a:ext cx="2971800" cy="1005840"/>
          </a:xfrm>
          <a:prstGeom prst="rect">
            <a:avLst/>
          </a:prstGeom>
          <a:noFill/>
        </p:spPr>
        <p:txBody>
          <a:bodyPr wrap="square">
            <a:spAutoFit/>
          </a:bodyPr>
          <a:lstStyle/>
          <a:p>
            <a:pPr algn="l"/>
            <a:r>
              <a:rPr sz="5200" b="1" i="0">
                <a:solidFill>
                  <a:srgbClr val="FFFFFF"/>
                </a:solidFill>
                <a:latin typeface="Inter"/>
              </a:rPr>
              <a:t>01</a:t>
            </a:r>
          </a:p>
        </p:txBody>
      </p:sp>
      <p:sp>
        <p:nvSpPr>
          <p:cNvPr id="8" name="TextBox 7"/>
          <p:cNvSpPr txBox="1"/>
          <p:nvPr/>
        </p:nvSpPr>
        <p:spPr>
          <a:xfrm>
            <a:off x="758952" y="3337560"/>
            <a:ext cx="2971800" cy="594360"/>
          </a:xfrm>
          <a:prstGeom prst="rect">
            <a:avLst/>
          </a:prstGeom>
          <a:noFill/>
        </p:spPr>
        <p:txBody>
          <a:bodyPr wrap="square">
            <a:spAutoFit/>
          </a:bodyPr>
          <a:lstStyle/>
          <a:p>
            <a:pPr algn="l"/>
            <a:r>
              <a:rPr sz="1700" b="1" i="0">
                <a:solidFill>
                  <a:srgbClr val="FFFFFF"/>
                </a:solidFill>
                <a:latin typeface="Inter"/>
              </a:rPr>
              <a:t>OUTSIDE THE MODEL</a:t>
            </a:r>
          </a:p>
        </p:txBody>
      </p:sp>
      <p:sp>
        <p:nvSpPr>
          <p:cNvPr id="9" name="TextBox 8"/>
          <p:cNvSpPr txBox="1"/>
          <p:nvPr/>
        </p:nvSpPr>
        <p:spPr>
          <a:xfrm>
            <a:off x="758952" y="4023360"/>
            <a:ext cx="2971800" cy="1691640"/>
          </a:xfrm>
          <a:prstGeom prst="rect">
            <a:avLst/>
          </a:prstGeom>
          <a:noFill/>
        </p:spPr>
        <p:txBody>
          <a:bodyPr wrap="square">
            <a:spAutoFit/>
          </a:bodyPr>
          <a:lstStyle/>
          <a:p>
            <a:pPr algn="l"/>
            <a:r>
              <a:rPr sz="1400" b="0" i="0">
                <a:solidFill>
                  <a:srgbClr val="EFEBE6"/>
                </a:solidFill>
                <a:latin typeface="Inter Light"/>
              </a:rPr>
              <a:t>Hooks run outside the model's context. They cannot be argued with, prompted around, or forgotten.</a:t>
            </a:r>
          </a:p>
        </p:txBody>
      </p:sp>
      <p:sp>
        <p:nvSpPr>
          <p:cNvPr id="10" name="Rounded Rectangle 9"/>
          <p:cNvSpPr/>
          <p:nvPr/>
        </p:nvSpPr>
        <p:spPr>
          <a:xfrm>
            <a:off x="4325112" y="2011680"/>
            <a:ext cx="3611880" cy="4023360"/>
          </a:xfrm>
          <a:prstGeom prst="roundRect">
            <a:avLst>
              <a:gd name="adj" fmla="val 7000"/>
            </a:avLst>
          </a:prstGeom>
          <a:solidFill>
            <a:srgbClr val="FF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45152" y="2331720"/>
            <a:ext cx="2971800" cy="1005840"/>
          </a:xfrm>
          <a:prstGeom prst="rect">
            <a:avLst/>
          </a:prstGeom>
          <a:noFill/>
        </p:spPr>
        <p:txBody>
          <a:bodyPr wrap="square">
            <a:spAutoFit/>
          </a:bodyPr>
          <a:lstStyle/>
          <a:p>
            <a:pPr algn="l"/>
            <a:r>
              <a:rPr sz="5200" b="1" i="0">
                <a:solidFill>
                  <a:srgbClr val="FFFFFF"/>
                </a:solidFill>
                <a:latin typeface="Inter"/>
              </a:rPr>
              <a:t>02</a:t>
            </a:r>
          </a:p>
        </p:txBody>
      </p:sp>
      <p:sp>
        <p:nvSpPr>
          <p:cNvPr id="12" name="TextBox 11"/>
          <p:cNvSpPr txBox="1"/>
          <p:nvPr/>
        </p:nvSpPr>
        <p:spPr>
          <a:xfrm>
            <a:off x="4645152" y="3337560"/>
            <a:ext cx="2971800" cy="594360"/>
          </a:xfrm>
          <a:prstGeom prst="rect">
            <a:avLst/>
          </a:prstGeom>
          <a:noFill/>
        </p:spPr>
        <p:txBody>
          <a:bodyPr wrap="square">
            <a:spAutoFit/>
          </a:bodyPr>
          <a:lstStyle/>
          <a:p>
            <a:pPr algn="l"/>
            <a:r>
              <a:rPr sz="1700" b="1" i="0">
                <a:solidFill>
                  <a:srgbClr val="FFFFFF"/>
                </a:solidFill>
                <a:latin typeface="Inter"/>
              </a:rPr>
              <a:t>THREE JOBS</a:t>
            </a:r>
          </a:p>
        </p:txBody>
      </p:sp>
      <p:sp>
        <p:nvSpPr>
          <p:cNvPr id="13" name="TextBox 12"/>
          <p:cNvSpPr txBox="1"/>
          <p:nvPr/>
        </p:nvSpPr>
        <p:spPr>
          <a:xfrm>
            <a:off x="4645152" y="4023360"/>
            <a:ext cx="2971800" cy="1691640"/>
          </a:xfrm>
          <a:prstGeom prst="rect">
            <a:avLst/>
          </a:prstGeom>
          <a:noFill/>
        </p:spPr>
        <p:txBody>
          <a:bodyPr wrap="square">
            <a:spAutoFit/>
          </a:bodyPr>
          <a:lstStyle/>
          <a:p>
            <a:pPr algn="l"/>
            <a:r>
              <a:rPr sz="1400" b="0" i="0">
                <a:solidFill>
                  <a:srgbClr val="EFEBE6"/>
                </a:solidFill>
                <a:latin typeface="Inter Light"/>
              </a:rPr>
              <a:t>PreToolUse prevents. PostToolUse corrects. Events inform. Three different jobs, all deterministic.</a:t>
            </a:r>
          </a:p>
        </p:txBody>
      </p:sp>
      <p:sp>
        <p:nvSpPr>
          <p:cNvPr id="14" name="Rounded Rectangle 13"/>
          <p:cNvSpPr/>
          <p:nvPr/>
        </p:nvSpPr>
        <p:spPr>
          <a:xfrm>
            <a:off x="8211312" y="2011680"/>
            <a:ext cx="3611880" cy="4023360"/>
          </a:xfrm>
          <a:prstGeom prst="roundRect">
            <a:avLst>
              <a:gd name="adj" fmla="val 7000"/>
            </a:avLst>
          </a:prstGeom>
          <a:solidFill>
            <a:srgbClr val="27CD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31352" y="2331720"/>
            <a:ext cx="2971800" cy="1005840"/>
          </a:xfrm>
          <a:prstGeom prst="rect">
            <a:avLst/>
          </a:prstGeom>
          <a:noFill/>
        </p:spPr>
        <p:txBody>
          <a:bodyPr wrap="square">
            <a:spAutoFit/>
          </a:bodyPr>
          <a:lstStyle/>
          <a:p>
            <a:pPr algn="l"/>
            <a:r>
              <a:rPr sz="5200" b="1" i="0">
                <a:solidFill>
                  <a:srgbClr val="3F113A"/>
                </a:solidFill>
                <a:latin typeface="Inter"/>
              </a:rPr>
              <a:t>03</a:t>
            </a:r>
          </a:p>
        </p:txBody>
      </p:sp>
      <p:sp>
        <p:nvSpPr>
          <p:cNvPr id="16" name="TextBox 15"/>
          <p:cNvSpPr txBox="1"/>
          <p:nvPr/>
        </p:nvSpPr>
        <p:spPr>
          <a:xfrm>
            <a:off x="8531352" y="3337560"/>
            <a:ext cx="2971800" cy="594360"/>
          </a:xfrm>
          <a:prstGeom prst="rect">
            <a:avLst/>
          </a:prstGeom>
          <a:noFill/>
        </p:spPr>
        <p:txBody>
          <a:bodyPr wrap="square">
            <a:spAutoFit/>
          </a:bodyPr>
          <a:lstStyle/>
          <a:p>
            <a:pPr algn="l"/>
            <a:r>
              <a:rPr sz="1700" b="1" i="0">
                <a:solidFill>
                  <a:srgbClr val="3F113A"/>
                </a:solidFill>
                <a:latin typeface="Inter"/>
              </a:rPr>
              <a:t>START WITH ONE</a:t>
            </a:r>
          </a:p>
        </p:txBody>
      </p:sp>
      <p:sp>
        <p:nvSpPr>
          <p:cNvPr id="17" name="TextBox 16"/>
          <p:cNvSpPr txBox="1"/>
          <p:nvPr/>
        </p:nvSpPr>
        <p:spPr>
          <a:xfrm>
            <a:off x="8531352" y="4023360"/>
            <a:ext cx="2971800" cy="1691640"/>
          </a:xfrm>
          <a:prstGeom prst="rect">
            <a:avLst/>
          </a:prstGeom>
          <a:noFill/>
        </p:spPr>
        <p:txBody>
          <a:bodyPr wrap="square">
            <a:spAutoFit/>
          </a:bodyPr>
          <a:lstStyle/>
          <a:p>
            <a:pPr algn="l"/>
            <a:r>
              <a:rPr sz="1400" b="0" i="0">
                <a:solidFill>
                  <a:srgbClr val="3F113A"/>
                </a:solidFill>
                <a:latin typeface="Inter Light"/>
              </a:rPr>
              <a:t>The security guard pays for itself the first time it blocks a plaintext credential. Start there.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_device_title_bg.png"/>
          <p:cNvPicPr>
            <a:picLocks noChangeAspect="1"/>
          </p:cNvPicPr>
          <p:nvPr/>
        </p:nvPicPr>
        <p:blipFill>
          <a:blip r:embed="rId3"/>
          <a:stretch>
            <a:fillRect/>
          </a:stretch>
        </p:blipFill>
        <p:spPr>
          <a:xfrm>
            <a:off x="0" y="0"/>
            <a:ext cx="12191695" cy="6858000"/>
          </a:xfrm>
          <a:prstGeom prst="rect">
            <a:avLst/>
          </a:prstGeom>
        </p:spPr>
      </p:pic>
      <p:pic>
        <p:nvPicPr>
          <p:cNvPr id="3" name="Picture 2" descr="MaxContact_Stacked_Logo_Title_Slide.png"/>
          <p:cNvPicPr>
            <a:picLocks noChangeAspect="1"/>
          </p:cNvPicPr>
          <p:nvPr/>
        </p:nvPicPr>
        <p:blipFill>
          <a:blip r:embed="rId4"/>
          <a:stretch>
            <a:fillRect/>
          </a:stretch>
        </p:blipFill>
        <p:spPr>
          <a:xfrm>
            <a:off x="457200" y="274320"/>
            <a:ext cx="2011680" cy="969264"/>
          </a:xfrm>
          <a:prstGeom prst="rect">
            <a:avLst/>
          </a:prstGeom>
        </p:spPr>
      </p:pic>
      <p:sp>
        <p:nvSpPr>
          <p:cNvPr id="4" name="TextBox 3"/>
          <p:cNvSpPr txBox="1"/>
          <p:nvPr/>
        </p:nvSpPr>
        <p:spPr>
          <a:xfrm>
            <a:off x="3474720" y="1371600"/>
            <a:ext cx="8412480" cy="868680"/>
          </a:xfrm>
          <a:prstGeom prst="rect">
            <a:avLst/>
          </a:prstGeom>
          <a:noFill/>
        </p:spPr>
        <p:txBody>
          <a:bodyPr wrap="none">
            <a:spAutoFit/>
          </a:bodyPr>
          <a:lstStyle/>
          <a:p>
            <a:pPr algn="r"/>
            <a:r>
              <a:rPr sz="4600" b="1" i="0">
                <a:solidFill>
                  <a:srgbClr val="FFFFFF"/>
                </a:solidFill>
                <a:latin typeface="Inter"/>
              </a:rPr>
              <a:t>WHAT GUARDRAILS</a:t>
            </a:r>
          </a:p>
        </p:txBody>
      </p:sp>
      <p:sp>
        <p:nvSpPr>
          <p:cNvPr id="5" name="TextBox 4"/>
          <p:cNvSpPr txBox="1"/>
          <p:nvPr/>
        </p:nvSpPr>
        <p:spPr>
          <a:xfrm>
            <a:off x="3474720" y="2286000"/>
            <a:ext cx="8412480" cy="868680"/>
          </a:xfrm>
          <a:prstGeom prst="rect">
            <a:avLst/>
          </a:prstGeom>
          <a:noFill/>
        </p:spPr>
        <p:txBody>
          <a:bodyPr wrap="none">
            <a:spAutoFit/>
          </a:bodyPr>
          <a:lstStyle/>
          <a:p>
            <a:pPr algn="r"/>
            <a:r>
              <a:rPr sz="4600" b="1" i="1">
                <a:solidFill>
                  <a:srgbClr val="3F113A"/>
                </a:solidFill>
                <a:latin typeface="Inter"/>
              </a:rPr>
              <a:t>DO YOU WISH YOU HAD?</a:t>
            </a:r>
          </a:p>
        </p:txBody>
      </p:sp>
      <p:sp>
        <p:nvSpPr>
          <p:cNvPr id="6" name="TextBox 5"/>
          <p:cNvSpPr txBox="1"/>
          <p:nvPr/>
        </p:nvSpPr>
        <p:spPr>
          <a:xfrm>
            <a:off x="5029200" y="3291840"/>
            <a:ext cx="6858000" cy="731520"/>
          </a:xfrm>
          <a:prstGeom prst="rect">
            <a:avLst/>
          </a:prstGeom>
          <a:noFill/>
        </p:spPr>
        <p:txBody>
          <a:bodyPr wrap="square">
            <a:spAutoFit/>
          </a:bodyPr>
          <a:lstStyle/>
          <a:p>
            <a:pPr algn="r"/>
            <a:r>
              <a:rPr sz="2200" b="0" i="0">
                <a:solidFill>
                  <a:srgbClr val="FFFFFF"/>
                </a:solidFill>
                <a:latin typeface="Inter Light"/>
              </a:rPr>
              <a:t>Last sprint. This sprint. Any sprint.</a:t>
            </a:r>
          </a:p>
        </p:txBody>
      </p:sp>
      <p:sp>
        <p:nvSpPr>
          <p:cNvPr id="7" name="Rounded Rectangle 6"/>
          <p:cNvSpPr/>
          <p:nvPr/>
        </p:nvSpPr>
        <p:spPr>
          <a:xfrm>
            <a:off x="7498079" y="5760720"/>
            <a:ext cx="4206240" cy="502920"/>
          </a:xfrm>
          <a:prstGeom prst="roundRect">
            <a:avLst>
              <a:gd name="adj" fmla="val 45000"/>
            </a:avLst>
          </a:prstGeom>
          <a:solidFill>
            <a:srgbClr val="3F1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35240" y="5824728"/>
            <a:ext cx="3931920" cy="411480"/>
          </a:xfrm>
          <a:prstGeom prst="rect">
            <a:avLst/>
          </a:prstGeom>
          <a:noFill/>
        </p:spPr>
        <p:txBody>
          <a:bodyPr wrap="square">
            <a:spAutoFit/>
          </a:bodyPr>
          <a:lstStyle/>
          <a:p>
            <a:pPr algn="ctr"/>
            <a:r>
              <a:rPr sz="1100" b="1" i="0">
                <a:solidFill>
                  <a:srgbClr val="FFFFFF"/>
                </a:solidFill>
                <a:latin typeface="Inter"/>
              </a:rPr>
              <a:t>0330 159 6570  |  maxcontact.com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3677</Words>
  <Application>Microsoft Office PowerPoint</Application>
  <PresentationFormat>Widescreen</PresentationFormat>
  <Paragraphs>185</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Courier New</vt:lpstr>
      <vt:lpstr>Inter</vt:lpstr>
      <vt:lpstr>Inter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Brian Merton</cp:lastModifiedBy>
  <cp:revision>2</cp:revision>
  <dcterms:created xsi:type="dcterms:W3CDTF">2013-01-27T09:14:16Z</dcterms:created>
  <dcterms:modified xsi:type="dcterms:W3CDTF">2026-04-24T12:24:09Z</dcterms:modified>
  <cp:category/>
</cp:coreProperties>
</file>